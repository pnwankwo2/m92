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oboto"/>
      <p:regular r:id="rId19"/>
      <p:bold r:id="rId20"/>
      <p:italic r:id="rId21"/>
      <p:boldItalic r:id="rId22"/>
    </p:embeddedFont>
    <p:embeddedFont>
      <p:font typeface="Roboto Medium"/>
      <p:regular r:id="rId23"/>
      <p:bold r:id="rId24"/>
      <p:italic r:id="rId25"/>
      <p:boldItalic r:id="rId26"/>
    </p:embeddedFont>
    <p:embeddedFont>
      <p:font typeface="Nunito"/>
      <p:regular r:id="rId27"/>
      <p:bold r:id="rId28"/>
      <p:italic r:id="rId29"/>
      <p:boldItalic r:id="rId30"/>
    </p:embeddedFont>
    <p:embeddedFont>
      <p:font typeface="Roboto Ligh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RobotoMedium-bold.fntdata"/><Relationship Id="rId23" Type="http://schemas.openxmlformats.org/officeDocument/2006/relationships/font" Target="fonts/Roboto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edium-boldItalic.fntdata"/><Relationship Id="rId25" Type="http://schemas.openxmlformats.org/officeDocument/2006/relationships/font" Target="fonts/RobotoMedium-italic.fntdata"/><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Light-regular.fntdata"/><Relationship Id="rId30" Type="http://schemas.openxmlformats.org/officeDocument/2006/relationships/font" Target="fonts/Nunito-boldItalic.fntdata"/><Relationship Id="rId11" Type="http://schemas.openxmlformats.org/officeDocument/2006/relationships/slide" Target="slides/slide6.xml"/><Relationship Id="rId33" Type="http://schemas.openxmlformats.org/officeDocument/2006/relationships/font" Target="fonts/RobotoLight-italic.fntdata"/><Relationship Id="rId10" Type="http://schemas.openxmlformats.org/officeDocument/2006/relationships/slide" Target="slides/slide5.xml"/><Relationship Id="rId32" Type="http://schemas.openxmlformats.org/officeDocument/2006/relationships/font" Target="fonts/RobotoLight-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obotoLight-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834b09d72_1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g30834b09d72_1_8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0834b09d72_1_8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g30834b09d72_1_8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g30834b09d72_1_8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0834b09d72_1_8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g30834b09d72_1_8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30834b09d72_1_8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834b09d72_1_8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30834b09d72_1_8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g30834b09d72_1_8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0834b09d72_1_8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0834b09d72_1_8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g30834b09d72_1_8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834a71d79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g30834a71d79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g30834a71d79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0834a71d79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0834a71d79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0834a71d79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08d0755efd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08d0755efd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g308d0755efd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08d0755efd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g308d0755efd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08d0755efd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8d0755efd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08d0755efd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08d0755efd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08d0755efd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g308d0755efd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g308d0755efd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08d0755efd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08d0755efd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08d0755efd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0834b09d72_1_9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0834b09d72_1_9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0834b09d72_1_9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24" name="Shape 124"/>
        <p:cNvGrpSpPr/>
        <p:nvPr/>
      </p:nvGrpSpPr>
      <p:grpSpPr>
        <a:xfrm>
          <a:off x="0" y="0"/>
          <a:ext cx="0" cy="0"/>
          <a:chOff x="0" y="0"/>
          <a:chExt cx="0" cy="0"/>
        </a:xfrm>
      </p:grpSpPr>
      <p:sp>
        <p:nvSpPr>
          <p:cNvPr id="125" name="Google Shape;125;p13"/>
          <p:cNvSpPr txBox="1"/>
          <p:nvPr>
            <p:ph type="title"/>
          </p:nvPr>
        </p:nvSpPr>
        <p:spPr>
          <a:xfrm>
            <a:off x="311700" y="445025"/>
            <a:ext cx="8520600" cy="572700"/>
          </a:xfrm>
          <a:prstGeom prst="rect">
            <a:avLst/>
          </a:prstGeom>
          <a:noFill/>
          <a:ln>
            <a:noFill/>
          </a:ln>
        </p:spPr>
        <p:txBody>
          <a:bodyPr anchorCtr="0" anchor="t" bIns="91425" lIns="365750" spcFirstLastPara="1" rIns="91425" wrap="square" tIns="91425">
            <a:no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6" name="Google Shape;126;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7" name="Google Shape;1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6.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2D49"/>
        </a:solidFill>
      </p:bgPr>
    </p:bg>
    <p:spTree>
      <p:nvGrpSpPr>
        <p:cNvPr id="131" name="Shape 131"/>
        <p:cNvGrpSpPr/>
        <p:nvPr/>
      </p:nvGrpSpPr>
      <p:grpSpPr>
        <a:xfrm>
          <a:off x="0" y="0"/>
          <a:ext cx="0" cy="0"/>
          <a:chOff x="0" y="0"/>
          <a:chExt cx="0" cy="0"/>
        </a:xfrm>
      </p:grpSpPr>
      <p:sp>
        <p:nvSpPr>
          <p:cNvPr id="132" name="Google Shape;132;p14"/>
          <p:cNvSpPr txBox="1"/>
          <p:nvPr/>
        </p:nvSpPr>
        <p:spPr>
          <a:xfrm>
            <a:off x="4271499" y="1606750"/>
            <a:ext cx="2368575" cy="36945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Clr>
                <a:srgbClr val="000000"/>
              </a:buClr>
              <a:buSzPts val="1200"/>
              <a:buFont typeface="Arial"/>
              <a:buNone/>
            </a:pPr>
            <a:r>
              <a:rPr b="1" i="0" lang="en" sz="1200" u="none" cap="none" strike="noStrike">
                <a:solidFill>
                  <a:schemeClr val="lt1"/>
                </a:solidFill>
                <a:latin typeface="Roboto"/>
                <a:ea typeface="Roboto"/>
                <a:cs typeface="Roboto"/>
                <a:sym typeface="Roboto"/>
              </a:rPr>
              <a:t>AI Boot Camp </a:t>
            </a:r>
            <a:r>
              <a:rPr b="1" i="0" lang="en" sz="1200" u="none" cap="none" strike="noStrike">
                <a:solidFill>
                  <a:srgbClr val="FCB912"/>
                </a:solidFill>
                <a:latin typeface="Roboto"/>
                <a:ea typeface="Roboto"/>
                <a:cs typeface="Roboto"/>
                <a:sym typeface="Roboto"/>
              </a:rPr>
              <a:t>Project 1</a:t>
            </a:r>
            <a:endParaRPr b="1" i="0" sz="1200" u="none" cap="none" strike="noStrike">
              <a:solidFill>
                <a:srgbClr val="FCB912"/>
              </a:solidFill>
              <a:latin typeface="Roboto"/>
              <a:ea typeface="Roboto"/>
              <a:cs typeface="Roboto"/>
              <a:sym typeface="Roboto"/>
            </a:endParaRPr>
          </a:p>
        </p:txBody>
      </p:sp>
      <p:sp>
        <p:nvSpPr>
          <p:cNvPr id="133" name="Google Shape;133;p14"/>
          <p:cNvSpPr txBox="1"/>
          <p:nvPr>
            <p:ph type="title"/>
          </p:nvPr>
        </p:nvSpPr>
        <p:spPr>
          <a:xfrm>
            <a:off x="4226650" y="1921823"/>
            <a:ext cx="4712700" cy="1635900"/>
          </a:xfrm>
          <a:prstGeom prst="rect">
            <a:avLst/>
          </a:prstGeom>
          <a:noFill/>
          <a:ln>
            <a:noFill/>
          </a:ln>
        </p:spPr>
        <p:txBody>
          <a:bodyPr anchorCtr="0" anchor="t" bIns="91425" lIns="365750" spcFirstLastPara="1" rIns="91425" wrap="square" tIns="91425">
            <a:noAutofit/>
          </a:bodyPr>
          <a:lstStyle/>
          <a:p>
            <a:pPr indent="0" lvl="0" marL="0" rtl="0" algn="l">
              <a:lnSpc>
                <a:spcPct val="100000"/>
              </a:lnSpc>
              <a:spcBef>
                <a:spcPts val="0"/>
              </a:spcBef>
              <a:spcAft>
                <a:spcPts val="0"/>
              </a:spcAft>
              <a:buSzPts val="1000"/>
              <a:buNone/>
            </a:pPr>
            <a:r>
              <a:rPr b="0" lang="en" sz="2500">
                <a:solidFill>
                  <a:schemeClr val="lt1"/>
                </a:solidFill>
                <a:latin typeface="Roboto Medium"/>
                <a:ea typeface="Roboto Medium"/>
                <a:cs typeface="Roboto Medium"/>
                <a:sym typeface="Roboto Medium"/>
              </a:rPr>
              <a:t>Does the U.S. Presidential Election impact the Nominal Effective Exchange Rate?</a:t>
            </a:r>
            <a:endParaRPr b="0">
              <a:solidFill>
                <a:schemeClr val="lt1"/>
              </a:solidFill>
              <a:latin typeface="Roboto Medium"/>
              <a:ea typeface="Roboto Medium"/>
              <a:cs typeface="Roboto Medium"/>
              <a:sym typeface="Roboto Medium"/>
            </a:endParaRPr>
          </a:p>
        </p:txBody>
      </p:sp>
      <p:sp>
        <p:nvSpPr>
          <p:cNvPr id="134" name="Google Shape;134;p14"/>
          <p:cNvSpPr txBox="1"/>
          <p:nvPr/>
        </p:nvSpPr>
        <p:spPr>
          <a:xfrm>
            <a:off x="400480" y="3167456"/>
            <a:ext cx="3912600" cy="298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lt1"/>
                </a:solidFill>
                <a:latin typeface="Roboto Medium"/>
                <a:ea typeface="Roboto Medium"/>
                <a:cs typeface="Roboto Medium"/>
                <a:sym typeface="Roboto Medium"/>
              </a:rPr>
              <a:t>Team Members:</a:t>
            </a:r>
            <a:endParaRPr b="0" i="0" sz="1400" u="none" cap="none" strike="noStrike">
              <a:solidFill>
                <a:schemeClr val="lt1"/>
              </a:solidFill>
              <a:latin typeface="Roboto Medium"/>
              <a:ea typeface="Roboto Medium"/>
              <a:cs typeface="Roboto Medium"/>
              <a:sym typeface="Roboto Medium"/>
            </a:endParaRPr>
          </a:p>
          <a:p>
            <a:pPr indent="0" lvl="0" marL="0" marR="0" rtl="0" algn="l">
              <a:lnSpc>
                <a:spcPct val="115000"/>
              </a:lnSpc>
              <a:spcBef>
                <a:spcPts val="1600"/>
              </a:spcBef>
              <a:spcAft>
                <a:spcPts val="0"/>
              </a:spcAft>
              <a:buClr>
                <a:srgbClr val="000000"/>
              </a:buClr>
              <a:buSzPts val="1400"/>
              <a:buFont typeface="Arial"/>
              <a:buNone/>
            </a:pPr>
            <a:r>
              <a:rPr lang="en">
                <a:solidFill>
                  <a:schemeClr val="lt1"/>
                </a:solidFill>
                <a:latin typeface="Roboto Medium"/>
                <a:ea typeface="Roboto Medium"/>
                <a:cs typeface="Roboto Medium"/>
                <a:sym typeface="Roboto Medium"/>
              </a:rPr>
              <a:t>Patrick Nwankwo</a:t>
            </a:r>
            <a:endParaRPr>
              <a:solidFill>
                <a:schemeClr val="lt1"/>
              </a:solidFill>
              <a:latin typeface="Roboto Medium"/>
              <a:ea typeface="Roboto Medium"/>
              <a:cs typeface="Roboto Medium"/>
              <a:sym typeface="Roboto Medium"/>
            </a:endParaRPr>
          </a:p>
          <a:p>
            <a:pPr indent="0" lvl="0" marL="0" marR="0" rtl="0" algn="l">
              <a:lnSpc>
                <a:spcPct val="115000"/>
              </a:lnSpc>
              <a:spcBef>
                <a:spcPts val="1600"/>
              </a:spcBef>
              <a:spcAft>
                <a:spcPts val="0"/>
              </a:spcAft>
              <a:buClr>
                <a:srgbClr val="000000"/>
              </a:buClr>
              <a:buSzPts val="1400"/>
              <a:buFont typeface="Arial"/>
              <a:buNone/>
            </a:pPr>
            <a:r>
              <a:rPr lang="en">
                <a:solidFill>
                  <a:schemeClr val="lt1"/>
                </a:solidFill>
                <a:latin typeface="Roboto Medium"/>
                <a:ea typeface="Roboto Medium"/>
                <a:cs typeface="Roboto Medium"/>
                <a:sym typeface="Roboto Medium"/>
              </a:rPr>
              <a:t>Jesse Poljak</a:t>
            </a:r>
            <a:endParaRPr>
              <a:solidFill>
                <a:schemeClr val="lt1"/>
              </a:solidFill>
              <a:latin typeface="Roboto Medium"/>
              <a:ea typeface="Roboto Medium"/>
              <a:cs typeface="Roboto Medium"/>
              <a:sym typeface="Roboto Medium"/>
            </a:endParaRPr>
          </a:p>
          <a:p>
            <a:pPr indent="0" lvl="0" marL="0" marR="0" rtl="0" algn="l">
              <a:lnSpc>
                <a:spcPct val="115000"/>
              </a:lnSpc>
              <a:spcBef>
                <a:spcPts val="1600"/>
              </a:spcBef>
              <a:spcAft>
                <a:spcPts val="0"/>
              </a:spcAft>
              <a:buClr>
                <a:srgbClr val="000000"/>
              </a:buClr>
              <a:buSzPts val="1400"/>
              <a:buFont typeface="Arial"/>
              <a:buNone/>
            </a:pPr>
            <a:r>
              <a:rPr lang="en">
                <a:solidFill>
                  <a:schemeClr val="lt1"/>
                </a:solidFill>
                <a:latin typeface="Roboto Medium"/>
                <a:ea typeface="Roboto Medium"/>
                <a:cs typeface="Roboto Medium"/>
                <a:sym typeface="Roboto Medium"/>
              </a:rPr>
              <a:t>Larry Azar </a:t>
            </a:r>
            <a:endParaRPr>
              <a:solidFill>
                <a:schemeClr val="lt1"/>
              </a:solidFill>
              <a:latin typeface="Roboto Medium"/>
              <a:ea typeface="Roboto Medium"/>
              <a:cs typeface="Roboto Medium"/>
              <a:sym typeface="Roboto Medium"/>
            </a:endParaRPr>
          </a:p>
          <a:p>
            <a:pPr indent="0" lvl="0" marL="0" rtl="0" algn="l">
              <a:lnSpc>
                <a:spcPct val="150000"/>
              </a:lnSpc>
              <a:spcBef>
                <a:spcPts val="1600"/>
              </a:spcBef>
              <a:spcAft>
                <a:spcPts val="0"/>
              </a:spcAft>
              <a:buNone/>
            </a:pPr>
            <a:r>
              <a:t/>
            </a:r>
            <a:endParaRPr b="1">
              <a:solidFill>
                <a:srgbClr val="569CD6"/>
              </a:solidFill>
              <a:highlight>
                <a:srgbClr val="1F1F1F"/>
              </a:highlight>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400"/>
              <a:buFont typeface="Arial"/>
              <a:buNone/>
            </a:pPr>
            <a:r>
              <a:t/>
            </a:r>
            <a:endParaRPr>
              <a:solidFill>
                <a:schemeClr val="lt1"/>
              </a:solidFill>
              <a:latin typeface="Roboto Medium"/>
              <a:ea typeface="Roboto Medium"/>
              <a:cs typeface="Roboto Medium"/>
              <a:sym typeface="Roboto Medium"/>
            </a:endParaRPr>
          </a:p>
          <a:p>
            <a:pPr indent="0" lvl="0" marL="0" marR="0" rtl="0" algn="l">
              <a:lnSpc>
                <a:spcPct val="115000"/>
              </a:lnSpc>
              <a:spcBef>
                <a:spcPts val="1600"/>
              </a:spcBef>
              <a:spcAft>
                <a:spcPts val="1600"/>
              </a:spcAft>
              <a:buClr>
                <a:srgbClr val="000000"/>
              </a:buClr>
              <a:buSzPts val="1400"/>
              <a:buFont typeface="Arial"/>
              <a:buNone/>
            </a:pPr>
            <a:r>
              <a:t/>
            </a:r>
            <a:endParaRPr>
              <a:solidFill>
                <a:schemeClr val="lt1"/>
              </a:solidFill>
              <a:latin typeface="Roboto Medium"/>
              <a:ea typeface="Roboto Medium"/>
              <a:cs typeface="Roboto Medium"/>
              <a:sym typeface="Roboto Medium"/>
            </a:endParaRPr>
          </a:p>
        </p:txBody>
      </p:sp>
      <p:cxnSp>
        <p:nvCxnSpPr>
          <p:cNvPr id="135" name="Google Shape;135;p14"/>
          <p:cNvCxnSpPr/>
          <p:nvPr/>
        </p:nvCxnSpPr>
        <p:spPr>
          <a:xfrm>
            <a:off x="4347750" y="1976050"/>
            <a:ext cx="968625" cy="0"/>
          </a:xfrm>
          <a:prstGeom prst="straightConnector1">
            <a:avLst/>
          </a:prstGeom>
          <a:noFill/>
          <a:ln cap="flat" cmpd="sng" w="19050">
            <a:solidFill>
              <a:schemeClr val="lt1"/>
            </a:solidFill>
            <a:prstDash val="solid"/>
            <a:round/>
            <a:headEnd len="sm" w="sm" type="none"/>
            <a:tailEnd len="sm" w="sm" type="none"/>
          </a:ln>
        </p:spPr>
      </p:cxnSp>
      <p:cxnSp>
        <p:nvCxnSpPr>
          <p:cNvPr id="136" name="Google Shape;136;p14"/>
          <p:cNvCxnSpPr/>
          <p:nvPr/>
        </p:nvCxnSpPr>
        <p:spPr>
          <a:xfrm>
            <a:off x="4358200" y="1975950"/>
            <a:ext cx="5446575" cy="0"/>
          </a:xfrm>
          <a:prstGeom prst="straightConnector1">
            <a:avLst/>
          </a:prstGeom>
          <a:noFill/>
          <a:ln cap="flat" cmpd="sng" w="19050">
            <a:solidFill>
              <a:schemeClr val="lt1"/>
            </a:solidFill>
            <a:prstDash val="solid"/>
            <a:round/>
            <a:headEnd len="sm" w="sm" type="none"/>
            <a:tailEnd len="med" w="med" type="oval"/>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1000"/>
                                        <p:tgtEl>
                                          <p:spTgt spid="1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5"/>
          <p:cNvSpPr/>
          <p:nvPr/>
        </p:nvSpPr>
        <p:spPr>
          <a:xfrm>
            <a:off x="2471375" y="2621738"/>
            <a:ext cx="6322200" cy="2317200"/>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3" name="Google Shape;143;p15"/>
          <p:cNvSpPr/>
          <p:nvPr/>
        </p:nvSpPr>
        <p:spPr>
          <a:xfrm>
            <a:off x="319501" y="334350"/>
            <a:ext cx="2071350" cy="207135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44" name="Google Shape;144;p15"/>
          <p:cNvSpPr txBox="1"/>
          <p:nvPr/>
        </p:nvSpPr>
        <p:spPr>
          <a:xfrm>
            <a:off x="436230" y="1140008"/>
            <a:ext cx="1806300" cy="46575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rgbClr val="FFFFFF"/>
                </a:solidFill>
                <a:latin typeface="Roboto Light"/>
                <a:ea typeface="Roboto Light"/>
                <a:cs typeface="Roboto Light"/>
                <a:sym typeface="Roboto Light"/>
              </a:rPr>
              <a:t>Project Overview</a:t>
            </a:r>
            <a:endParaRPr b="0" i="0" sz="2300" u="none" cap="none" strike="noStrike">
              <a:solidFill>
                <a:srgbClr val="FFFFFF"/>
              </a:solidFill>
              <a:latin typeface="Roboto Light"/>
              <a:ea typeface="Roboto Light"/>
              <a:cs typeface="Roboto Light"/>
              <a:sym typeface="Roboto Light"/>
            </a:endParaRPr>
          </a:p>
        </p:txBody>
      </p:sp>
      <p:sp>
        <p:nvSpPr>
          <p:cNvPr id="145" name="Google Shape;145;p15"/>
          <p:cNvSpPr txBox="1"/>
          <p:nvPr/>
        </p:nvSpPr>
        <p:spPr>
          <a:xfrm>
            <a:off x="2471363" y="2117913"/>
            <a:ext cx="6389100" cy="387900"/>
          </a:xfrm>
          <a:prstGeom prst="rect">
            <a:avLst/>
          </a:prstGeom>
          <a:noFill/>
          <a:ln>
            <a:noFill/>
          </a:ln>
        </p:spPr>
        <p:txBody>
          <a:bodyPr anchorCtr="0" anchor="t" bIns="68575" lIns="68575" spcFirstLastPara="1" rIns="68575" wrap="square" tIns="68575">
            <a:spAutoFit/>
          </a:bodyPr>
          <a:lstStyle/>
          <a:p>
            <a:pPr indent="0" lvl="0" marL="0" marR="0" rtl="0" algn="l">
              <a:lnSpc>
                <a:spcPct val="90000"/>
              </a:lnSpc>
              <a:spcBef>
                <a:spcPts val="0"/>
              </a:spcBef>
              <a:spcAft>
                <a:spcPts val="0"/>
              </a:spcAft>
              <a:buClr>
                <a:srgbClr val="000000"/>
              </a:buClr>
              <a:buSzPts val="1800"/>
              <a:buFont typeface="Arial"/>
              <a:buNone/>
            </a:pPr>
            <a:r>
              <a:rPr b="1" lang="en" sz="1800">
                <a:solidFill>
                  <a:srgbClr val="082D49"/>
                </a:solidFill>
                <a:latin typeface="Roboto"/>
                <a:ea typeface="Roboto"/>
                <a:cs typeface="Roboto"/>
                <a:sym typeface="Roboto"/>
              </a:rPr>
              <a:t>Overview</a:t>
            </a:r>
            <a:endParaRPr b="1" i="0" sz="1800" u="none" cap="none" strike="noStrike">
              <a:solidFill>
                <a:srgbClr val="082D49"/>
              </a:solidFill>
              <a:latin typeface="Roboto"/>
              <a:ea typeface="Roboto"/>
              <a:cs typeface="Roboto"/>
              <a:sym typeface="Roboto"/>
            </a:endParaRPr>
          </a:p>
        </p:txBody>
      </p:sp>
      <p:sp>
        <p:nvSpPr>
          <p:cNvPr id="146" name="Google Shape;146;p15"/>
          <p:cNvSpPr txBox="1"/>
          <p:nvPr/>
        </p:nvSpPr>
        <p:spPr>
          <a:xfrm>
            <a:off x="2471375" y="2621756"/>
            <a:ext cx="6389100" cy="2304300"/>
          </a:xfrm>
          <a:prstGeom prst="rect">
            <a:avLst/>
          </a:prstGeom>
          <a:noFill/>
          <a:ln>
            <a:noFill/>
          </a:ln>
        </p:spPr>
        <p:txBody>
          <a:bodyPr anchorCtr="0" anchor="t" bIns="68575" lIns="68575" spcFirstLastPara="1" rIns="68575" wrap="square" tIns="68575">
            <a:spAutoFit/>
          </a:bodyPr>
          <a:lstStyle/>
          <a:p>
            <a:pPr indent="0" lvl="0" marL="0" rtl="0" algn="l">
              <a:lnSpc>
                <a:spcPct val="90000"/>
              </a:lnSpc>
              <a:spcBef>
                <a:spcPts val="0"/>
              </a:spcBef>
              <a:spcAft>
                <a:spcPts val="0"/>
              </a:spcAft>
              <a:buNone/>
            </a:pPr>
            <a:r>
              <a:rPr lang="en" sz="1300">
                <a:solidFill>
                  <a:schemeClr val="dk2"/>
                </a:solidFill>
                <a:latin typeface="Roboto"/>
                <a:ea typeface="Roboto"/>
                <a:cs typeface="Roboto"/>
                <a:sym typeface="Roboto"/>
              </a:rPr>
              <a:t>Our project captures a comprehensive time series prediction of a Foreign Exchange (FX) model, showcasing its ability to forecast currency exchange rates with high precision and accuracy. The analysis employs historical data spanning several years from 1996 -2024, incorporating crucial geopolitical events, focusing most specifically to U.S presidential election years, and market sentiment. Utilizing advanced statistical techniques and machine learning algorithms, the model identifies patterns and trends to predict future movements in FX rates.</a:t>
            </a:r>
            <a:endParaRPr sz="1300">
              <a:solidFill>
                <a:schemeClr val="dk2"/>
              </a:solidFill>
              <a:latin typeface="Roboto"/>
              <a:ea typeface="Roboto"/>
              <a:cs typeface="Roboto"/>
              <a:sym typeface="Roboto"/>
            </a:endParaRPr>
          </a:p>
          <a:p>
            <a:pPr indent="0" lvl="0" marL="0" rtl="0" algn="l">
              <a:spcBef>
                <a:spcPts val="0"/>
              </a:spcBef>
              <a:spcAft>
                <a:spcPts val="0"/>
              </a:spcAft>
              <a:buNone/>
            </a:pPr>
            <a:r>
              <a:t/>
            </a:r>
            <a:endParaRPr sz="1300">
              <a:solidFill>
                <a:srgbClr val="282523"/>
              </a:solidFill>
              <a:highlight>
                <a:srgbClr val="F8F4F2"/>
              </a:highlight>
            </a:endParaRPr>
          </a:p>
          <a:p>
            <a:pPr indent="0" lvl="0" marL="0" rtl="0" algn="l">
              <a:spcBef>
                <a:spcPts val="0"/>
              </a:spcBef>
              <a:spcAft>
                <a:spcPts val="0"/>
              </a:spcAft>
              <a:buNone/>
            </a:pPr>
            <a:r>
              <a:rPr lang="en" sz="1300">
                <a:solidFill>
                  <a:srgbClr val="282523"/>
                </a:solidFill>
                <a:highlight>
                  <a:srgbClr val="F8F4F2"/>
                </a:highlight>
              </a:rPr>
              <a:t>Foreign exchange, commonly known as FX, is the global marketplace for trading national </a:t>
            </a:r>
            <a:r>
              <a:rPr lang="en" sz="1300">
                <a:solidFill>
                  <a:srgbClr val="282523"/>
                </a:solidFill>
                <a:highlight>
                  <a:srgbClr val="F8F4F2"/>
                </a:highlight>
              </a:rPr>
              <a:t>currencies</a:t>
            </a:r>
            <a:r>
              <a:rPr lang="en" sz="1300">
                <a:solidFill>
                  <a:srgbClr val="282523"/>
                </a:solidFill>
                <a:highlight>
                  <a:srgbClr val="F8F4F2"/>
                </a:highlight>
              </a:rPr>
              <a:t>. </a:t>
            </a:r>
            <a:endParaRPr sz="1100">
              <a:solidFill>
                <a:srgbClr val="082D49"/>
              </a:solidFill>
              <a:latin typeface="Roboto"/>
              <a:ea typeface="Roboto"/>
              <a:cs typeface="Roboto"/>
              <a:sym typeface="Roboto"/>
            </a:endParaRPr>
          </a:p>
          <a:p>
            <a:pPr indent="0" lvl="0" marL="0" rtl="0" algn="l">
              <a:lnSpc>
                <a:spcPct val="90000"/>
              </a:lnSpc>
              <a:spcBef>
                <a:spcPts val="0"/>
              </a:spcBef>
              <a:spcAft>
                <a:spcPts val="0"/>
              </a:spcAft>
              <a:buNone/>
            </a:pPr>
            <a:r>
              <a:rPr lang="en" sz="1100">
                <a:solidFill>
                  <a:srgbClr val="082D49"/>
                </a:solidFill>
                <a:latin typeface="Roboto"/>
                <a:ea typeface="Roboto"/>
                <a:cs typeface="Roboto"/>
                <a:sym typeface="Roboto"/>
              </a:rPr>
              <a:t> </a:t>
            </a:r>
            <a:endParaRPr sz="1300">
              <a:solidFill>
                <a:srgbClr val="082D49"/>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100"/>
              <a:buFont typeface="Arial"/>
              <a:buNone/>
            </a:pPr>
            <a:r>
              <a:t/>
            </a:r>
            <a:endParaRPr sz="1100">
              <a:solidFill>
                <a:srgbClr val="082D49"/>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6"/>
          <p:cNvSpPr/>
          <p:nvPr/>
        </p:nvSpPr>
        <p:spPr>
          <a:xfrm>
            <a:off x="2504775" y="2585138"/>
            <a:ext cx="6322275" cy="2317275"/>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3" name="Google Shape;153;p16"/>
          <p:cNvSpPr/>
          <p:nvPr/>
        </p:nvSpPr>
        <p:spPr>
          <a:xfrm>
            <a:off x="319501" y="334350"/>
            <a:ext cx="2071350" cy="2071350"/>
          </a:xfrm>
          <a:prstGeom prst="rect">
            <a:avLst/>
          </a:prstGeom>
          <a:solidFill>
            <a:srgbClr val="005E77"/>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4" name="Google Shape;154;p16"/>
          <p:cNvSpPr txBox="1"/>
          <p:nvPr/>
        </p:nvSpPr>
        <p:spPr>
          <a:xfrm>
            <a:off x="2504775" y="2109638"/>
            <a:ext cx="6389100" cy="387900"/>
          </a:xfrm>
          <a:prstGeom prst="rect">
            <a:avLst/>
          </a:prstGeom>
          <a:noFill/>
          <a:ln>
            <a:noFill/>
          </a:ln>
        </p:spPr>
        <p:txBody>
          <a:bodyPr anchorCtr="0" anchor="t" bIns="68575" lIns="68575" spcFirstLastPara="1" rIns="68575" wrap="square" tIns="68575">
            <a:spAutoFit/>
          </a:bodyPr>
          <a:lstStyle/>
          <a:p>
            <a:pPr indent="0" lvl="0" marL="0" marR="0" rtl="0" algn="l">
              <a:lnSpc>
                <a:spcPct val="90000"/>
              </a:lnSpc>
              <a:spcBef>
                <a:spcPts val="0"/>
              </a:spcBef>
              <a:spcAft>
                <a:spcPts val="0"/>
              </a:spcAft>
              <a:buClr>
                <a:srgbClr val="000000"/>
              </a:buClr>
              <a:buSzPts val="1800"/>
              <a:buFont typeface="Arial"/>
              <a:buNone/>
            </a:pPr>
            <a:r>
              <a:rPr b="1" i="0" lang="en" sz="1800" u="none" cap="none" strike="noStrike">
                <a:solidFill>
                  <a:srgbClr val="005E77"/>
                </a:solidFill>
                <a:latin typeface="Roboto"/>
                <a:ea typeface="Roboto"/>
                <a:cs typeface="Roboto"/>
                <a:sym typeface="Roboto"/>
              </a:rPr>
              <a:t>Goals/Questions to be addressed</a:t>
            </a:r>
            <a:endParaRPr b="1" i="0" sz="1800" u="none" cap="none" strike="noStrike">
              <a:solidFill>
                <a:srgbClr val="005E77"/>
              </a:solidFill>
              <a:latin typeface="Roboto"/>
              <a:ea typeface="Roboto"/>
              <a:cs typeface="Roboto"/>
              <a:sym typeface="Roboto"/>
            </a:endParaRPr>
          </a:p>
        </p:txBody>
      </p:sp>
      <p:sp>
        <p:nvSpPr>
          <p:cNvPr id="155" name="Google Shape;155;p16"/>
          <p:cNvSpPr txBox="1"/>
          <p:nvPr/>
        </p:nvSpPr>
        <p:spPr>
          <a:xfrm>
            <a:off x="2504775" y="2634300"/>
            <a:ext cx="6389100" cy="1600800"/>
          </a:xfrm>
          <a:prstGeom prst="rect">
            <a:avLst/>
          </a:prstGeom>
          <a:noFill/>
          <a:ln>
            <a:noFill/>
          </a:ln>
        </p:spPr>
        <p:txBody>
          <a:bodyPr anchorCtr="0" anchor="t" bIns="68575" lIns="68575" spcFirstLastPara="1" rIns="68575" wrap="square" tIns="68575">
            <a:spAutoFit/>
          </a:bodyPr>
          <a:lstStyle/>
          <a:p>
            <a:pPr indent="-139700" lvl="0" marL="241300" marR="0" rtl="0" algn="l">
              <a:lnSpc>
                <a:spcPct val="115000"/>
              </a:lnSpc>
              <a:spcBef>
                <a:spcPts val="0"/>
              </a:spcBef>
              <a:spcAft>
                <a:spcPts val="0"/>
              </a:spcAft>
              <a:buClr>
                <a:srgbClr val="005E77"/>
              </a:buClr>
              <a:buSzPts val="1200"/>
              <a:buFont typeface="Roboto"/>
              <a:buChar char="●"/>
            </a:pPr>
            <a:r>
              <a:rPr lang="en" sz="1200">
                <a:solidFill>
                  <a:srgbClr val="082D49"/>
                </a:solidFill>
                <a:latin typeface="Roboto"/>
                <a:ea typeface="Roboto"/>
                <a:cs typeface="Roboto"/>
                <a:sym typeface="Roboto"/>
              </a:rPr>
              <a:t>Predicting the </a:t>
            </a:r>
            <a:r>
              <a:rPr lang="en" sz="1200">
                <a:solidFill>
                  <a:srgbClr val="082D49"/>
                </a:solidFill>
                <a:latin typeface="Roboto"/>
                <a:ea typeface="Roboto"/>
                <a:cs typeface="Roboto"/>
                <a:sym typeface="Roboto"/>
              </a:rPr>
              <a:t>exchange rate in the upcoming 100 days that includes the before and after of the US Presidential Election</a:t>
            </a:r>
            <a:endParaRPr b="0" i="0" sz="1200" u="none" cap="none" strike="noStrike">
              <a:solidFill>
                <a:srgbClr val="082D49"/>
              </a:solidFill>
              <a:latin typeface="Roboto"/>
              <a:ea typeface="Roboto"/>
              <a:cs typeface="Roboto"/>
              <a:sym typeface="Roboto"/>
            </a:endParaRPr>
          </a:p>
          <a:p>
            <a:pPr indent="-139700" lvl="0" marL="241300" marR="0" rtl="0" algn="l">
              <a:lnSpc>
                <a:spcPct val="115000"/>
              </a:lnSpc>
              <a:spcBef>
                <a:spcPts val="600"/>
              </a:spcBef>
              <a:spcAft>
                <a:spcPts val="0"/>
              </a:spcAft>
              <a:buClr>
                <a:srgbClr val="005E77"/>
              </a:buClr>
              <a:buSzPts val="1200"/>
              <a:buFont typeface="Roboto"/>
              <a:buChar char="●"/>
            </a:pPr>
            <a:r>
              <a:rPr lang="en" sz="1200">
                <a:solidFill>
                  <a:srgbClr val="082D49"/>
                </a:solidFill>
                <a:latin typeface="Roboto"/>
                <a:ea typeface="Roboto"/>
                <a:cs typeface="Roboto"/>
                <a:sym typeface="Roboto"/>
              </a:rPr>
              <a:t>Examine any other potential seasonalities of exchange rate data</a:t>
            </a:r>
            <a:endParaRPr b="0" i="0" sz="1200" u="none" cap="none" strike="noStrike">
              <a:solidFill>
                <a:srgbClr val="082D49"/>
              </a:solidFill>
              <a:latin typeface="Roboto"/>
              <a:ea typeface="Roboto"/>
              <a:cs typeface="Roboto"/>
              <a:sym typeface="Roboto"/>
            </a:endParaRPr>
          </a:p>
          <a:p>
            <a:pPr indent="-139700" lvl="0" marL="241300" marR="0" rtl="0" algn="l">
              <a:lnSpc>
                <a:spcPct val="115000"/>
              </a:lnSpc>
              <a:spcBef>
                <a:spcPts val="600"/>
              </a:spcBef>
              <a:spcAft>
                <a:spcPts val="0"/>
              </a:spcAft>
              <a:buClr>
                <a:srgbClr val="005E77"/>
              </a:buClr>
              <a:buSzPts val="1200"/>
              <a:buFont typeface="Roboto"/>
              <a:buChar char="●"/>
            </a:pPr>
            <a:r>
              <a:rPr lang="en" sz="1200">
                <a:solidFill>
                  <a:schemeClr val="dk2"/>
                </a:solidFill>
                <a:latin typeface="Roboto"/>
                <a:ea typeface="Roboto"/>
                <a:cs typeface="Roboto"/>
                <a:sym typeface="Roboto"/>
              </a:rPr>
              <a:t>Determine whether election years produce a higher or lower exchange rate, and whether there is increased variability in the October to December timeframe</a:t>
            </a:r>
            <a:endParaRPr sz="1200">
              <a:solidFill>
                <a:schemeClr val="dk2"/>
              </a:solidFill>
              <a:latin typeface="Roboto"/>
              <a:ea typeface="Roboto"/>
              <a:cs typeface="Roboto"/>
              <a:sym typeface="Roboto"/>
            </a:endParaRPr>
          </a:p>
          <a:p>
            <a:pPr indent="0" lvl="0" marL="457200" marR="0" rtl="0" algn="l">
              <a:lnSpc>
                <a:spcPct val="115000"/>
              </a:lnSpc>
              <a:spcBef>
                <a:spcPts val="600"/>
              </a:spcBef>
              <a:spcAft>
                <a:spcPts val="600"/>
              </a:spcAft>
              <a:buNone/>
            </a:pPr>
            <a:r>
              <a:t/>
            </a:r>
            <a:endParaRPr sz="1100">
              <a:solidFill>
                <a:srgbClr val="082D49"/>
              </a:solidFill>
              <a:latin typeface="Roboto"/>
              <a:ea typeface="Roboto"/>
              <a:cs typeface="Roboto"/>
              <a:sym typeface="Roboto"/>
            </a:endParaRPr>
          </a:p>
        </p:txBody>
      </p:sp>
      <p:sp>
        <p:nvSpPr>
          <p:cNvPr id="156" name="Google Shape;156;p16"/>
          <p:cNvSpPr txBox="1"/>
          <p:nvPr/>
        </p:nvSpPr>
        <p:spPr>
          <a:xfrm>
            <a:off x="436230" y="1140008"/>
            <a:ext cx="1806300" cy="46575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rgbClr val="FFFFFF"/>
                </a:solidFill>
                <a:latin typeface="Roboto Light"/>
                <a:ea typeface="Roboto Light"/>
                <a:cs typeface="Roboto Light"/>
                <a:sym typeface="Roboto Light"/>
              </a:rPr>
              <a:t>Project Overview</a:t>
            </a:r>
            <a:endParaRPr b="0" i="0" sz="2300" u="none" cap="none" strike="noStrike">
              <a:solidFill>
                <a:srgbClr val="FFFFFF"/>
              </a:solidFill>
              <a:latin typeface="Roboto Light"/>
              <a:ea typeface="Roboto Light"/>
              <a:cs typeface="Roboto Light"/>
              <a:sym typeface="Roboto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p:nvPr/>
        </p:nvSpPr>
        <p:spPr>
          <a:xfrm>
            <a:off x="2504775" y="2585138"/>
            <a:ext cx="6322275" cy="2317275"/>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3" name="Google Shape;163;p17"/>
          <p:cNvSpPr/>
          <p:nvPr/>
        </p:nvSpPr>
        <p:spPr>
          <a:xfrm>
            <a:off x="319501" y="334350"/>
            <a:ext cx="2071350" cy="2071350"/>
          </a:xfrm>
          <a:prstGeom prst="rect">
            <a:avLst/>
          </a:prstGeom>
          <a:solidFill>
            <a:srgbClr val="00C7CC"/>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4" name="Google Shape;164;p17"/>
          <p:cNvSpPr txBox="1"/>
          <p:nvPr/>
        </p:nvSpPr>
        <p:spPr>
          <a:xfrm>
            <a:off x="2504775" y="2109638"/>
            <a:ext cx="6389100" cy="387900"/>
          </a:xfrm>
          <a:prstGeom prst="rect">
            <a:avLst/>
          </a:prstGeom>
          <a:noFill/>
          <a:ln>
            <a:noFill/>
          </a:ln>
        </p:spPr>
        <p:txBody>
          <a:bodyPr anchorCtr="0" anchor="t" bIns="68575" lIns="68575" spcFirstLastPara="1" rIns="68575" wrap="square" tIns="68575">
            <a:spAutoFit/>
          </a:bodyPr>
          <a:lstStyle/>
          <a:p>
            <a:pPr indent="0" lvl="0" marL="0" marR="0" rtl="0" algn="l">
              <a:lnSpc>
                <a:spcPct val="90000"/>
              </a:lnSpc>
              <a:spcBef>
                <a:spcPts val="0"/>
              </a:spcBef>
              <a:spcAft>
                <a:spcPts val="0"/>
              </a:spcAft>
              <a:buClr>
                <a:srgbClr val="FBE8D5"/>
              </a:buClr>
              <a:buSzPts val="2600"/>
              <a:buFont typeface="Calibri"/>
              <a:buNone/>
            </a:pPr>
            <a:r>
              <a:rPr b="1" i="0" lang="en" sz="1800" u="none" cap="none" strike="noStrike">
                <a:solidFill>
                  <a:srgbClr val="00C7CC"/>
                </a:solidFill>
                <a:latin typeface="Roboto"/>
                <a:ea typeface="Roboto"/>
                <a:cs typeface="Roboto"/>
                <a:sym typeface="Roboto"/>
              </a:rPr>
              <a:t>Overview of data collection, cleanup and exploration process</a:t>
            </a:r>
            <a:endParaRPr b="1" i="0" sz="1800" u="none" cap="none" strike="noStrike">
              <a:solidFill>
                <a:srgbClr val="00C7CC"/>
              </a:solidFill>
              <a:latin typeface="Roboto"/>
              <a:ea typeface="Roboto"/>
              <a:cs typeface="Roboto"/>
              <a:sym typeface="Roboto"/>
            </a:endParaRPr>
          </a:p>
        </p:txBody>
      </p:sp>
      <p:sp>
        <p:nvSpPr>
          <p:cNvPr id="165" name="Google Shape;165;p17"/>
          <p:cNvSpPr txBox="1"/>
          <p:nvPr/>
        </p:nvSpPr>
        <p:spPr>
          <a:xfrm>
            <a:off x="2504775" y="2497550"/>
            <a:ext cx="6389100" cy="23865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0"/>
              </a:spcBef>
              <a:spcAft>
                <a:spcPts val="0"/>
              </a:spcAft>
              <a:buNone/>
            </a:pPr>
            <a:r>
              <a:rPr b="1" lang="en" sz="1200">
                <a:solidFill>
                  <a:srgbClr val="082D49"/>
                </a:solidFill>
                <a:latin typeface="Roboto"/>
                <a:ea typeface="Roboto"/>
                <a:cs typeface="Roboto"/>
                <a:sym typeface="Roboto"/>
              </a:rPr>
              <a:t>Data Source:</a:t>
            </a:r>
            <a:r>
              <a:rPr lang="en" sz="1200">
                <a:solidFill>
                  <a:srgbClr val="082D49"/>
                </a:solidFill>
                <a:latin typeface="Roboto"/>
                <a:ea typeface="Roboto"/>
                <a:cs typeface="Roboto"/>
                <a:sym typeface="Roboto"/>
              </a:rPr>
              <a:t> Bank of International Settlements (Central Banks of 60 countries)</a:t>
            </a:r>
            <a:endParaRPr sz="1200">
              <a:solidFill>
                <a:srgbClr val="082D49"/>
              </a:solidFill>
              <a:latin typeface="Roboto"/>
              <a:ea typeface="Roboto"/>
              <a:cs typeface="Roboto"/>
              <a:sym typeface="Roboto"/>
            </a:endParaRPr>
          </a:p>
          <a:p>
            <a:pPr indent="0" lvl="0" marL="0" marR="0" rtl="0" algn="l">
              <a:lnSpc>
                <a:spcPct val="115000"/>
              </a:lnSpc>
              <a:spcBef>
                <a:spcPts val="600"/>
              </a:spcBef>
              <a:spcAft>
                <a:spcPts val="0"/>
              </a:spcAft>
              <a:buNone/>
            </a:pPr>
            <a:r>
              <a:rPr b="1" lang="en" sz="1200">
                <a:solidFill>
                  <a:srgbClr val="082D49"/>
                </a:solidFill>
                <a:latin typeface="Roboto"/>
                <a:ea typeface="Roboto"/>
                <a:cs typeface="Roboto"/>
                <a:sym typeface="Roboto"/>
              </a:rPr>
              <a:t>Data: Nominal Effective Exchange Rate (NEER), i.e. Unadjusted</a:t>
            </a:r>
            <a:r>
              <a:rPr lang="en" sz="1200">
                <a:solidFill>
                  <a:srgbClr val="082D49"/>
                </a:solidFill>
                <a:latin typeface="Roboto"/>
                <a:ea typeface="Roboto"/>
                <a:cs typeface="Roboto"/>
                <a:sym typeface="Roboto"/>
              </a:rPr>
              <a:t>: </a:t>
            </a:r>
            <a:endParaRPr sz="1200">
              <a:solidFill>
                <a:srgbClr val="082D49"/>
              </a:solidFill>
              <a:latin typeface="Roboto"/>
              <a:ea typeface="Roboto"/>
              <a:cs typeface="Roboto"/>
              <a:sym typeface="Roboto"/>
            </a:endParaRPr>
          </a:p>
          <a:p>
            <a:pPr indent="0" lvl="0" marL="0" marR="0" rtl="0" algn="l">
              <a:lnSpc>
                <a:spcPct val="115000"/>
              </a:lnSpc>
              <a:spcBef>
                <a:spcPts val="600"/>
              </a:spcBef>
              <a:spcAft>
                <a:spcPts val="0"/>
              </a:spcAft>
              <a:buNone/>
            </a:pPr>
            <a:r>
              <a:rPr lang="en" sz="1200">
                <a:solidFill>
                  <a:srgbClr val="082D49"/>
                </a:solidFill>
                <a:latin typeface="Roboto"/>
                <a:ea typeface="Roboto"/>
                <a:cs typeface="Roboto"/>
                <a:sym typeface="Roboto"/>
              </a:rPr>
              <a:t>   </a:t>
            </a:r>
            <a:r>
              <a:rPr lang="en" sz="1300">
                <a:solidFill>
                  <a:srgbClr val="333333"/>
                </a:solidFill>
              </a:rPr>
              <a:t>geometric trade-weighted average rate “index” of 64 bilateral exchange rates.</a:t>
            </a:r>
            <a:endParaRPr sz="1300">
              <a:solidFill>
                <a:srgbClr val="333333"/>
              </a:solidFill>
            </a:endParaRPr>
          </a:p>
          <a:p>
            <a:pPr indent="0" lvl="0" marL="0" marR="0" rtl="0" algn="l">
              <a:lnSpc>
                <a:spcPct val="115000"/>
              </a:lnSpc>
              <a:spcBef>
                <a:spcPts val="600"/>
              </a:spcBef>
              <a:spcAft>
                <a:spcPts val="0"/>
              </a:spcAft>
              <a:buClr>
                <a:srgbClr val="000000"/>
              </a:buClr>
              <a:buSzPts val="1100"/>
              <a:buFont typeface="Arial"/>
              <a:buNone/>
            </a:pPr>
            <a:r>
              <a:rPr lang="en" sz="1300">
                <a:solidFill>
                  <a:srgbClr val="333333"/>
                </a:solidFill>
              </a:rPr>
              <a:t>   Can serve as measure of international competitiveness/gauge of external shocks.</a:t>
            </a:r>
            <a:endParaRPr sz="1300">
              <a:solidFill>
                <a:srgbClr val="333333"/>
              </a:solidFill>
            </a:endParaRPr>
          </a:p>
          <a:p>
            <a:pPr indent="0" lvl="0" marL="0" marR="0" rtl="0" algn="l">
              <a:lnSpc>
                <a:spcPct val="115000"/>
              </a:lnSpc>
              <a:spcBef>
                <a:spcPts val="600"/>
              </a:spcBef>
              <a:spcAft>
                <a:spcPts val="0"/>
              </a:spcAft>
              <a:buClr>
                <a:srgbClr val="000000"/>
              </a:buClr>
              <a:buSzPts val="1100"/>
              <a:buFont typeface="Arial"/>
              <a:buNone/>
            </a:pPr>
            <a:r>
              <a:rPr b="1" lang="en" sz="1200">
                <a:solidFill>
                  <a:srgbClr val="082D49"/>
                </a:solidFill>
                <a:latin typeface="Roboto"/>
                <a:ea typeface="Roboto"/>
                <a:cs typeface="Roboto"/>
                <a:sym typeface="Roboto"/>
              </a:rPr>
              <a:t>Data period : </a:t>
            </a:r>
            <a:r>
              <a:rPr b="1" lang="en" sz="1300">
                <a:solidFill>
                  <a:srgbClr val="333333"/>
                </a:solidFill>
              </a:rPr>
              <a:t>11/4/1996 to 9/24/2024 </a:t>
            </a:r>
            <a:r>
              <a:rPr lang="en" sz="1200">
                <a:solidFill>
                  <a:srgbClr val="082D49"/>
                </a:solidFill>
                <a:latin typeface="Roboto"/>
                <a:ea typeface="Roboto"/>
                <a:cs typeface="Roboto"/>
                <a:sym typeface="Roboto"/>
              </a:rPr>
              <a:t> Size of Data: 10,401 rows, 12 columns.</a:t>
            </a:r>
            <a:endParaRPr sz="1200">
              <a:solidFill>
                <a:srgbClr val="082D49"/>
              </a:solidFill>
              <a:latin typeface="Roboto"/>
              <a:ea typeface="Roboto"/>
              <a:cs typeface="Roboto"/>
              <a:sym typeface="Roboto"/>
            </a:endParaRPr>
          </a:p>
          <a:p>
            <a:pPr indent="0" lvl="0" marL="0" marR="0" rtl="0" algn="l">
              <a:lnSpc>
                <a:spcPct val="115000"/>
              </a:lnSpc>
              <a:spcBef>
                <a:spcPts val="600"/>
              </a:spcBef>
              <a:spcAft>
                <a:spcPts val="0"/>
              </a:spcAft>
              <a:buClr>
                <a:srgbClr val="000000"/>
              </a:buClr>
              <a:buSzPts val="1100"/>
              <a:buFont typeface="Arial"/>
              <a:buNone/>
            </a:pPr>
            <a:r>
              <a:rPr b="1" lang="en" sz="1200">
                <a:solidFill>
                  <a:srgbClr val="082D49"/>
                </a:solidFill>
                <a:latin typeface="Roboto"/>
                <a:ea typeface="Roboto"/>
                <a:cs typeface="Roboto"/>
                <a:sym typeface="Roboto"/>
              </a:rPr>
              <a:t>Data used</a:t>
            </a:r>
            <a:r>
              <a:rPr lang="en" sz="1200">
                <a:solidFill>
                  <a:srgbClr val="082D49"/>
                </a:solidFill>
                <a:latin typeface="Roboto"/>
                <a:ea typeface="Roboto"/>
                <a:cs typeface="Roboto"/>
                <a:sym typeface="Roboto"/>
              </a:rPr>
              <a:t>: </a:t>
            </a:r>
            <a:r>
              <a:rPr b="1" lang="en" sz="1200">
                <a:solidFill>
                  <a:srgbClr val="082D49"/>
                </a:solidFill>
                <a:latin typeface="Roboto"/>
                <a:ea typeface="Roboto"/>
                <a:cs typeface="Roboto"/>
                <a:sym typeface="Roboto"/>
              </a:rPr>
              <a:t>“Date”</a:t>
            </a:r>
            <a:r>
              <a:rPr lang="en" sz="1200">
                <a:solidFill>
                  <a:srgbClr val="082D49"/>
                </a:solidFill>
                <a:latin typeface="Roboto"/>
                <a:ea typeface="Roboto"/>
                <a:cs typeface="Roboto"/>
                <a:sym typeface="Roboto"/>
              </a:rPr>
              <a:t> and </a:t>
            </a:r>
            <a:r>
              <a:rPr b="1" lang="en" sz="1200">
                <a:solidFill>
                  <a:srgbClr val="082D49"/>
                </a:solidFill>
                <a:latin typeface="Roboto"/>
                <a:ea typeface="Roboto"/>
                <a:cs typeface="Roboto"/>
                <a:sym typeface="Roboto"/>
              </a:rPr>
              <a:t>“NEER”</a:t>
            </a:r>
            <a:endParaRPr b="1" sz="1200">
              <a:solidFill>
                <a:srgbClr val="082D49"/>
              </a:solidFill>
              <a:latin typeface="Roboto"/>
              <a:ea typeface="Roboto"/>
              <a:cs typeface="Roboto"/>
              <a:sym typeface="Roboto"/>
            </a:endParaRPr>
          </a:p>
          <a:p>
            <a:pPr indent="0" lvl="0" marL="0" rtl="0" algn="l">
              <a:lnSpc>
                <a:spcPct val="115000"/>
              </a:lnSpc>
              <a:spcBef>
                <a:spcPts val="600"/>
              </a:spcBef>
              <a:spcAft>
                <a:spcPts val="0"/>
              </a:spcAft>
              <a:buNone/>
            </a:pPr>
            <a:r>
              <a:rPr b="1" lang="en" sz="1200">
                <a:solidFill>
                  <a:schemeClr val="dk2"/>
                </a:solidFill>
                <a:latin typeface="Roboto"/>
                <a:ea typeface="Roboto"/>
                <a:cs typeface="Roboto"/>
                <a:sym typeface="Roboto"/>
              </a:rPr>
              <a:t>Exploratory Data: </a:t>
            </a:r>
            <a:r>
              <a:rPr lang="en" sz="1200">
                <a:solidFill>
                  <a:schemeClr val="dk2"/>
                </a:solidFill>
                <a:latin typeface="Roboto"/>
                <a:ea typeface="Roboto"/>
                <a:cs typeface="Roboto"/>
                <a:sym typeface="Roboto"/>
              </a:rPr>
              <a:t>The </a:t>
            </a:r>
            <a:r>
              <a:rPr b="1" lang="en" sz="1200">
                <a:solidFill>
                  <a:schemeClr val="dk2"/>
                </a:solidFill>
                <a:latin typeface="Roboto"/>
                <a:ea typeface="Roboto"/>
                <a:cs typeface="Roboto"/>
                <a:sym typeface="Roboto"/>
              </a:rPr>
              <a:t>daily performance</a:t>
            </a:r>
            <a:r>
              <a:rPr lang="en" sz="1200">
                <a:solidFill>
                  <a:schemeClr val="dk2"/>
                </a:solidFill>
                <a:latin typeface="Roboto"/>
                <a:ea typeface="Roboto"/>
                <a:cs typeface="Roboto"/>
                <a:sym typeface="Roboto"/>
              </a:rPr>
              <a:t> in October and November</a:t>
            </a:r>
            <a:r>
              <a:rPr b="1" lang="en" sz="1200">
                <a:solidFill>
                  <a:schemeClr val="dk2"/>
                </a:solidFill>
                <a:latin typeface="Roboto"/>
                <a:ea typeface="Roboto"/>
                <a:cs typeface="Roboto"/>
                <a:sym typeface="Roboto"/>
              </a:rPr>
              <a:t>.</a:t>
            </a:r>
            <a:endParaRPr sz="1100">
              <a:solidFill>
                <a:srgbClr val="082D49"/>
              </a:solidFill>
              <a:latin typeface="Roboto"/>
              <a:ea typeface="Roboto"/>
              <a:cs typeface="Roboto"/>
              <a:sym typeface="Roboto"/>
            </a:endParaRPr>
          </a:p>
          <a:p>
            <a:pPr indent="0" lvl="0" marL="0" marR="0" rtl="0" algn="l">
              <a:lnSpc>
                <a:spcPct val="115000"/>
              </a:lnSpc>
              <a:spcBef>
                <a:spcPts val="600"/>
              </a:spcBef>
              <a:spcAft>
                <a:spcPts val="600"/>
              </a:spcAft>
              <a:buClr>
                <a:srgbClr val="000000"/>
              </a:buClr>
              <a:buSzPts val="1100"/>
              <a:buFont typeface="Arial"/>
              <a:buNone/>
            </a:pPr>
            <a:r>
              <a:t/>
            </a:r>
            <a:endParaRPr sz="1100">
              <a:solidFill>
                <a:srgbClr val="082D49"/>
              </a:solidFill>
              <a:latin typeface="Roboto"/>
              <a:ea typeface="Roboto"/>
              <a:cs typeface="Roboto"/>
              <a:sym typeface="Roboto"/>
            </a:endParaRPr>
          </a:p>
        </p:txBody>
      </p:sp>
      <p:sp>
        <p:nvSpPr>
          <p:cNvPr id="166" name="Google Shape;166;p17"/>
          <p:cNvSpPr txBox="1"/>
          <p:nvPr/>
        </p:nvSpPr>
        <p:spPr>
          <a:xfrm>
            <a:off x="436230" y="1140008"/>
            <a:ext cx="1806300" cy="46575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2300"/>
              <a:buFont typeface="Arial"/>
              <a:buNone/>
            </a:pPr>
            <a:r>
              <a:rPr b="0" i="0" lang="en" sz="2300" u="none" cap="none" strike="noStrike">
                <a:solidFill>
                  <a:srgbClr val="082D49"/>
                </a:solidFill>
                <a:latin typeface="Roboto Light"/>
                <a:ea typeface="Roboto Light"/>
                <a:cs typeface="Roboto Light"/>
                <a:sym typeface="Roboto Light"/>
              </a:rPr>
              <a:t>Project Overview</a:t>
            </a:r>
            <a:endParaRPr b="0" i="0" sz="2300" u="none" cap="none" strike="noStrike">
              <a:solidFill>
                <a:srgbClr val="082D49"/>
              </a:solidFill>
              <a:latin typeface="Roboto Light"/>
              <a:ea typeface="Roboto Light"/>
              <a:cs typeface="Roboto Light"/>
              <a:sym typeface="Robo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p:nvPr/>
        </p:nvSpPr>
        <p:spPr>
          <a:xfrm>
            <a:off x="319500" y="1644844"/>
            <a:ext cx="8514225" cy="3177225"/>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3" name="Google Shape;173;p18"/>
          <p:cNvSpPr/>
          <p:nvPr/>
        </p:nvSpPr>
        <p:spPr>
          <a:xfrm>
            <a:off x="319499" y="334350"/>
            <a:ext cx="3584925" cy="677025"/>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4" name="Google Shape;174;p18"/>
          <p:cNvSpPr txBox="1"/>
          <p:nvPr/>
        </p:nvSpPr>
        <p:spPr>
          <a:xfrm>
            <a:off x="521528" y="597645"/>
            <a:ext cx="3126375" cy="1521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2300"/>
              <a:buFont typeface="Arial"/>
              <a:buNone/>
            </a:pPr>
            <a:r>
              <a:rPr lang="en" sz="2300">
                <a:solidFill>
                  <a:srgbClr val="FFFFFF"/>
                </a:solidFill>
                <a:latin typeface="Roboto Light"/>
                <a:ea typeface="Roboto Light"/>
                <a:cs typeface="Roboto Light"/>
                <a:sym typeface="Roboto Light"/>
              </a:rPr>
              <a:t>Approach</a:t>
            </a:r>
            <a:endParaRPr b="0" i="0" sz="2300" u="none" cap="none" strike="noStrike">
              <a:solidFill>
                <a:srgbClr val="FFFFFF"/>
              </a:solidFill>
              <a:latin typeface="Roboto Light"/>
              <a:ea typeface="Roboto Light"/>
              <a:cs typeface="Roboto Light"/>
              <a:sym typeface="Roboto Light"/>
            </a:endParaRPr>
          </a:p>
        </p:txBody>
      </p:sp>
      <p:sp>
        <p:nvSpPr>
          <p:cNvPr id="175" name="Google Shape;175;p18"/>
          <p:cNvSpPr txBox="1"/>
          <p:nvPr/>
        </p:nvSpPr>
        <p:spPr>
          <a:xfrm>
            <a:off x="319500" y="1681475"/>
            <a:ext cx="5295000" cy="2355000"/>
          </a:xfrm>
          <a:prstGeom prst="rect">
            <a:avLst/>
          </a:prstGeom>
          <a:noFill/>
          <a:ln>
            <a:noFill/>
          </a:ln>
        </p:spPr>
        <p:txBody>
          <a:bodyPr anchorCtr="0" anchor="t" bIns="68575" lIns="68575" spcFirstLastPara="1" rIns="68575" wrap="square" tIns="68575">
            <a:spAutoFit/>
          </a:bodyPr>
          <a:lstStyle/>
          <a:p>
            <a:pPr indent="0" lvl="0" marL="0" marR="0" rtl="0" algn="l">
              <a:lnSpc>
                <a:spcPct val="90000"/>
              </a:lnSpc>
              <a:spcBef>
                <a:spcPts val="0"/>
              </a:spcBef>
              <a:spcAft>
                <a:spcPts val="0"/>
              </a:spcAft>
              <a:buClr>
                <a:srgbClr val="000000"/>
              </a:buClr>
              <a:buSzPts val="1100"/>
              <a:buFont typeface="Arial"/>
              <a:buNone/>
            </a:pPr>
            <a:r>
              <a:rPr b="1" lang="en" sz="1600">
                <a:solidFill>
                  <a:srgbClr val="082D49"/>
                </a:solidFill>
                <a:latin typeface="Roboto"/>
                <a:ea typeface="Roboto"/>
                <a:cs typeface="Roboto"/>
                <a:sym typeface="Roboto"/>
              </a:rPr>
              <a:t>Challenges</a:t>
            </a:r>
            <a:r>
              <a:rPr lang="en" sz="1600">
                <a:solidFill>
                  <a:srgbClr val="082D49"/>
                </a:solidFill>
                <a:latin typeface="Roboto"/>
                <a:ea typeface="Roboto"/>
                <a:cs typeface="Roboto"/>
                <a:sym typeface="Roboto"/>
              </a:rPr>
              <a:t>:</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100"/>
              <a:buFont typeface="Arial"/>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Understanding our data</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How will we properly isolate election impact?</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Making sense of swings in different directions over time</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Where do we start?</a:t>
            </a:r>
            <a:endParaRPr sz="1600">
              <a:solidFill>
                <a:srgbClr val="082D49"/>
              </a:solidFill>
              <a:latin typeface="Roboto"/>
              <a:ea typeface="Roboto"/>
              <a:cs typeface="Roboto"/>
              <a:sym typeface="Roboto"/>
            </a:endParaRPr>
          </a:p>
        </p:txBody>
      </p:sp>
      <p:pic>
        <p:nvPicPr>
          <p:cNvPr descr="a man in a suit and tie sitting in a chair (Provided by Tenor)" id="176" name="Google Shape;176;p18"/>
          <p:cNvPicPr preferRelativeResize="0"/>
          <p:nvPr/>
        </p:nvPicPr>
        <p:blipFill>
          <a:blip r:embed="rId3">
            <a:alphaModFix/>
          </a:blip>
          <a:stretch>
            <a:fillRect/>
          </a:stretch>
        </p:blipFill>
        <p:spPr>
          <a:xfrm>
            <a:off x="5916000" y="1787400"/>
            <a:ext cx="2746026" cy="2746026"/>
          </a:xfrm>
          <a:prstGeom prst="rect">
            <a:avLst/>
          </a:prstGeom>
          <a:solidFill>
            <a:srgbClr val="F2F2F2"/>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9"/>
          <p:cNvSpPr/>
          <p:nvPr/>
        </p:nvSpPr>
        <p:spPr>
          <a:xfrm>
            <a:off x="319500" y="1644844"/>
            <a:ext cx="8514300" cy="3177300"/>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3" name="Google Shape;183;p19"/>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4" name="Google Shape;184;p19"/>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2300"/>
              <a:buFont typeface="Arial"/>
              <a:buNone/>
            </a:pPr>
            <a:r>
              <a:rPr lang="en" sz="2300">
                <a:solidFill>
                  <a:srgbClr val="FFFFFF"/>
                </a:solidFill>
                <a:latin typeface="Roboto Light"/>
                <a:ea typeface="Roboto Light"/>
                <a:cs typeface="Roboto Light"/>
                <a:sym typeface="Roboto Light"/>
              </a:rPr>
              <a:t>Approach</a:t>
            </a:r>
            <a:endParaRPr b="0" i="0" sz="2300" u="none" cap="none" strike="noStrike">
              <a:solidFill>
                <a:srgbClr val="FFFFFF"/>
              </a:solidFill>
              <a:latin typeface="Roboto Light"/>
              <a:ea typeface="Roboto Light"/>
              <a:cs typeface="Roboto Light"/>
              <a:sym typeface="Roboto Light"/>
            </a:endParaRPr>
          </a:p>
        </p:txBody>
      </p:sp>
      <p:sp>
        <p:nvSpPr>
          <p:cNvPr id="185" name="Google Shape;185;p19"/>
          <p:cNvSpPr txBox="1"/>
          <p:nvPr/>
        </p:nvSpPr>
        <p:spPr>
          <a:xfrm>
            <a:off x="319500" y="1681475"/>
            <a:ext cx="4842600" cy="3463200"/>
          </a:xfrm>
          <a:prstGeom prst="rect">
            <a:avLst/>
          </a:prstGeom>
          <a:noFill/>
          <a:ln>
            <a:noFill/>
          </a:ln>
        </p:spPr>
        <p:txBody>
          <a:bodyPr anchorCtr="0" anchor="t" bIns="68575" lIns="68575" spcFirstLastPara="1" rIns="68575" wrap="square" tIns="68575">
            <a:spAutoFit/>
          </a:bodyPr>
          <a:lstStyle/>
          <a:p>
            <a:pPr indent="0" lvl="0" marL="0" marR="0" rtl="0" algn="l">
              <a:lnSpc>
                <a:spcPct val="90000"/>
              </a:lnSpc>
              <a:spcBef>
                <a:spcPts val="0"/>
              </a:spcBef>
              <a:spcAft>
                <a:spcPts val="0"/>
              </a:spcAft>
              <a:buClr>
                <a:srgbClr val="000000"/>
              </a:buClr>
              <a:buSzPts val="1100"/>
              <a:buFont typeface="Arial"/>
              <a:buNone/>
            </a:pPr>
            <a:r>
              <a:rPr b="1" lang="en" sz="1600">
                <a:solidFill>
                  <a:srgbClr val="082D49"/>
                </a:solidFill>
                <a:latin typeface="Roboto"/>
                <a:ea typeface="Roboto"/>
                <a:cs typeface="Roboto"/>
                <a:sym typeface="Roboto"/>
              </a:rPr>
              <a:t>Breaking it Down</a:t>
            </a:r>
            <a:r>
              <a:rPr lang="en" sz="1600">
                <a:solidFill>
                  <a:srgbClr val="082D49"/>
                </a:solidFill>
                <a:latin typeface="Roboto"/>
                <a:ea typeface="Roboto"/>
                <a:cs typeface="Roboto"/>
                <a:sym typeface="Roboto"/>
              </a:rPr>
              <a:t>:</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100"/>
              <a:buFont typeface="Arial"/>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Clean/Examine our data</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Create a Prophet model to predict where the exchange rate will go next</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Dive into general seasonality</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Choose an Election Season timeframe</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330200" lvl="0" marL="457200" marR="0" rtl="0" algn="l">
              <a:lnSpc>
                <a:spcPct val="90000"/>
              </a:lnSpc>
              <a:spcBef>
                <a:spcPts val="0"/>
              </a:spcBef>
              <a:spcAft>
                <a:spcPts val="0"/>
              </a:spcAft>
              <a:buClr>
                <a:srgbClr val="082D49"/>
              </a:buClr>
              <a:buSzPts val="1600"/>
              <a:buFont typeface="Roboto"/>
              <a:buChar char="●"/>
            </a:pPr>
            <a:r>
              <a:rPr lang="en" sz="1600">
                <a:solidFill>
                  <a:srgbClr val="082D49"/>
                </a:solidFill>
                <a:latin typeface="Roboto"/>
                <a:ea typeface="Roboto"/>
                <a:cs typeface="Roboto"/>
                <a:sym typeface="Roboto"/>
              </a:rPr>
              <a:t>Zoom in on Election Years vs. Non Election Years</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a:p>
            <a:pPr indent="0" lvl="0" marL="0" marR="0" rtl="0" algn="l">
              <a:lnSpc>
                <a:spcPct val="90000"/>
              </a:lnSpc>
              <a:spcBef>
                <a:spcPts val="0"/>
              </a:spcBef>
              <a:spcAft>
                <a:spcPts val="0"/>
              </a:spcAft>
              <a:buNone/>
            </a:pPr>
            <a:r>
              <a:t/>
            </a:r>
            <a:endParaRPr sz="1600">
              <a:solidFill>
                <a:srgbClr val="082D49"/>
              </a:solidFill>
              <a:latin typeface="Roboto"/>
              <a:ea typeface="Roboto"/>
              <a:cs typeface="Roboto"/>
              <a:sym typeface="Roboto"/>
            </a:endParaRPr>
          </a:p>
        </p:txBody>
      </p:sp>
      <p:pic>
        <p:nvPicPr>
          <p:cNvPr id="186" name="Google Shape;186;p19"/>
          <p:cNvPicPr preferRelativeResize="0"/>
          <p:nvPr/>
        </p:nvPicPr>
        <p:blipFill>
          <a:blip r:embed="rId3">
            <a:alphaModFix/>
          </a:blip>
          <a:stretch>
            <a:fillRect/>
          </a:stretch>
        </p:blipFill>
        <p:spPr>
          <a:xfrm>
            <a:off x="4975229" y="1850950"/>
            <a:ext cx="3858575" cy="2571749"/>
          </a:xfrm>
          <a:prstGeom prst="rect">
            <a:avLst/>
          </a:prstGeom>
          <a:solidFill>
            <a:srgbClr val="F2F2F2"/>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3" name="Google Shape;193;p20"/>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2300">
                <a:solidFill>
                  <a:schemeClr val="lt1"/>
                </a:solidFill>
                <a:latin typeface="Roboto Light"/>
                <a:ea typeface="Roboto Light"/>
                <a:cs typeface="Roboto Light"/>
                <a:sym typeface="Roboto Light"/>
              </a:rPr>
              <a:t>Understanding our Data</a:t>
            </a:r>
            <a:endParaRPr/>
          </a:p>
        </p:txBody>
      </p:sp>
      <p:pic>
        <p:nvPicPr>
          <p:cNvPr id="194" name="Google Shape;194;p20"/>
          <p:cNvPicPr preferRelativeResize="0"/>
          <p:nvPr/>
        </p:nvPicPr>
        <p:blipFill>
          <a:blip r:embed="rId3">
            <a:alphaModFix/>
          </a:blip>
          <a:stretch>
            <a:fillRect/>
          </a:stretch>
        </p:blipFill>
        <p:spPr>
          <a:xfrm>
            <a:off x="5268775" y="141925"/>
            <a:ext cx="3712151" cy="2368100"/>
          </a:xfrm>
          <a:prstGeom prst="rect">
            <a:avLst/>
          </a:prstGeom>
          <a:noFill/>
          <a:ln>
            <a:noFill/>
          </a:ln>
        </p:spPr>
      </p:pic>
      <p:pic>
        <p:nvPicPr>
          <p:cNvPr id="195" name="Google Shape;195;p20"/>
          <p:cNvPicPr preferRelativeResize="0"/>
          <p:nvPr/>
        </p:nvPicPr>
        <p:blipFill>
          <a:blip r:embed="rId4">
            <a:alphaModFix/>
          </a:blip>
          <a:stretch>
            <a:fillRect/>
          </a:stretch>
        </p:blipFill>
        <p:spPr>
          <a:xfrm>
            <a:off x="5497375" y="2510025"/>
            <a:ext cx="3394275" cy="2633475"/>
          </a:xfrm>
          <a:prstGeom prst="rect">
            <a:avLst/>
          </a:prstGeom>
          <a:noFill/>
          <a:ln>
            <a:noFill/>
          </a:ln>
        </p:spPr>
      </p:pic>
      <p:pic>
        <p:nvPicPr>
          <p:cNvPr id="196" name="Google Shape;196;p20"/>
          <p:cNvPicPr preferRelativeResize="0"/>
          <p:nvPr/>
        </p:nvPicPr>
        <p:blipFill>
          <a:blip r:embed="rId5">
            <a:alphaModFix/>
          </a:blip>
          <a:stretch>
            <a:fillRect/>
          </a:stretch>
        </p:blipFill>
        <p:spPr>
          <a:xfrm>
            <a:off x="387652" y="1747200"/>
            <a:ext cx="3771550" cy="1976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3" name="Google Shape;203;p21"/>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2300">
                <a:solidFill>
                  <a:schemeClr val="lt1"/>
                </a:solidFill>
                <a:latin typeface="Roboto Light"/>
                <a:ea typeface="Roboto Light"/>
                <a:cs typeface="Roboto Light"/>
                <a:sym typeface="Roboto Light"/>
              </a:rPr>
              <a:t>Prophet</a:t>
            </a:r>
            <a:r>
              <a:rPr lang="en" sz="2300">
                <a:solidFill>
                  <a:schemeClr val="lt1"/>
                </a:solidFill>
                <a:latin typeface="Roboto Light"/>
                <a:ea typeface="Roboto Light"/>
                <a:cs typeface="Roboto Light"/>
                <a:sym typeface="Roboto Light"/>
              </a:rPr>
              <a:t> Model Predictions</a:t>
            </a:r>
            <a:endParaRPr/>
          </a:p>
        </p:txBody>
      </p:sp>
      <p:pic>
        <p:nvPicPr>
          <p:cNvPr id="204" name="Google Shape;204;p21"/>
          <p:cNvPicPr preferRelativeResize="0"/>
          <p:nvPr/>
        </p:nvPicPr>
        <p:blipFill>
          <a:blip r:embed="rId3">
            <a:alphaModFix/>
          </a:blip>
          <a:stretch>
            <a:fillRect/>
          </a:stretch>
        </p:blipFill>
        <p:spPr>
          <a:xfrm>
            <a:off x="54525" y="1795650"/>
            <a:ext cx="4457976" cy="2607125"/>
          </a:xfrm>
          <a:prstGeom prst="rect">
            <a:avLst/>
          </a:prstGeom>
          <a:noFill/>
          <a:ln>
            <a:noFill/>
          </a:ln>
        </p:spPr>
      </p:pic>
      <p:pic>
        <p:nvPicPr>
          <p:cNvPr id="205" name="Google Shape;205;p21"/>
          <p:cNvPicPr preferRelativeResize="0"/>
          <p:nvPr/>
        </p:nvPicPr>
        <p:blipFill>
          <a:blip r:embed="rId4">
            <a:alphaModFix/>
          </a:blip>
          <a:stretch>
            <a:fillRect/>
          </a:stretch>
        </p:blipFill>
        <p:spPr>
          <a:xfrm>
            <a:off x="4580644" y="1795648"/>
            <a:ext cx="4419856" cy="2556750"/>
          </a:xfrm>
          <a:prstGeom prst="rect">
            <a:avLst/>
          </a:prstGeom>
          <a:noFill/>
          <a:ln>
            <a:noFill/>
          </a:ln>
        </p:spPr>
      </p:pic>
      <p:sp>
        <p:nvSpPr>
          <p:cNvPr id="206" name="Google Shape;206;p21"/>
          <p:cNvSpPr txBox="1"/>
          <p:nvPr/>
        </p:nvSpPr>
        <p:spPr>
          <a:xfrm>
            <a:off x="543625" y="1390100"/>
            <a:ext cx="34170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2E5E73"/>
                </a:solidFill>
                <a:latin typeface="Roboto Light"/>
                <a:ea typeface="Roboto Light"/>
                <a:cs typeface="Roboto Light"/>
                <a:sym typeface="Roboto Light"/>
              </a:rPr>
              <a:t>2 Year Prediction</a:t>
            </a:r>
            <a:endParaRPr sz="1800">
              <a:solidFill>
                <a:srgbClr val="2E5E73"/>
              </a:solidFill>
              <a:latin typeface="Roboto Light"/>
              <a:ea typeface="Roboto Light"/>
              <a:cs typeface="Roboto Light"/>
              <a:sym typeface="Roboto Light"/>
            </a:endParaRPr>
          </a:p>
        </p:txBody>
      </p:sp>
      <p:sp>
        <p:nvSpPr>
          <p:cNvPr id="207" name="Google Shape;207;p21"/>
          <p:cNvSpPr txBox="1"/>
          <p:nvPr/>
        </p:nvSpPr>
        <p:spPr>
          <a:xfrm>
            <a:off x="5115625" y="1390100"/>
            <a:ext cx="34170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2E5E73"/>
                </a:solidFill>
                <a:latin typeface="Roboto Light"/>
                <a:ea typeface="Roboto Light"/>
                <a:cs typeface="Roboto Light"/>
                <a:sym typeface="Roboto Light"/>
              </a:rPr>
              <a:t>100 Day Prediction</a:t>
            </a:r>
            <a:endParaRPr sz="1800">
              <a:solidFill>
                <a:srgbClr val="2E5E73"/>
              </a:solidFill>
              <a:latin typeface="Roboto Light"/>
              <a:ea typeface="Roboto Light"/>
              <a:cs typeface="Roboto Light"/>
              <a:sym typeface="Roboto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2"/>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4" name="Google Shape;214;p22"/>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2300">
                <a:solidFill>
                  <a:schemeClr val="lt1"/>
                </a:solidFill>
                <a:latin typeface="Roboto Light"/>
                <a:ea typeface="Roboto Light"/>
                <a:cs typeface="Roboto Light"/>
                <a:sym typeface="Roboto Light"/>
              </a:rPr>
              <a:t>Pre and Post Election Zoom In</a:t>
            </a:r>
            <a:endParaRPr/>
          </a:p>
        </p:txBody>
      </p:sp>
      <p:sp>
        <p:nvSpPr>
          <p:cNvPr id="215" name="Google Shape;215;p22"/>
          <p:cNvSpPr txBox="1"/>
          <p:nvPr/>
        </p:nvSpPr>
        <p:spPr>
          <a:xfrm>
            <a:off x="443750" y="1345600"/>
            <a:ext cx="3417000" cy="35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2E5E73"/>
                </a:solidFill>
                <a:latin typeface="Roboto Light"/>
                <a:ea typeface="Roboto Light"/>
                <a:cs typeface="Roboto Light"/>
                <a:sym typeface="Roboto Light"/>
              </a:rPr>
              <a:t>100 Day Prediction</a:t>
            </a:r>
            <a:endParaRPr sz="1800">
              <a:solidFill>
                <a:srgbClr val="2E5E73"/>
              </a:solidFill>
              <a:latin typeface="Roboto Light"/>
              <a:ea typeface="Roboto Light"/>
              <a:cs typeface="Roboto Light"/>
              <a:sym typeface="Roboto Light"/>
            </a:endParaRPr>
          </a:p>
        </p:txBody>
      </p:sp>
      <p:pic>
        <p:nvPicPr>
          <p:cNvPr id="216" name="Google Shape;216;p22"/>
          <p:cNvPicPr preferRelativeResize="0"/>
          <p:nvPr/>
        </p:nvPicPr>
        <p:blipFill>
          <a:blip r:embed="rId3">
            <a:alphaModFix/>
          </a:blip>
          <a:stretch>
            <a:fillRect/>
          </a:stretch>
        </p:blipFill>
        <p:spPr>
          <a:xfrm>
            <a:off x="361338" y="1895263"/>
            <a:ext cx="3762375" cy="2847975"/>
          </a:xfrm>
          <a:prstGeom prst="rect">
            <a:avLst/>
          </a:prstGeom>
          <a:solidFill>
            <a:srgbClr val="F2F2F2"/>
          </a:solidFill>
          <a:ln>
            <a:noFill/>
          </a:ln>
        </p:spPr>
      </p:pic>
      <p:sp>
        <p:nvSpPr>
          <p:cNvPr id="217" name="Google Shape;217;p22"/>
          <p:cNvSpPr txBox="1"/>
          <p:nvPr/>
        </p:nvSpPr>
        <p:spPr>
          <a:xfrm>
            <a:off x="4681900" y="1918125"/>
            <a:ext cx="3872400" cy="33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2E5E73"/>
                </a:solidFill>
                <a:latin typeface="Roboto"/>
                <a:ea typeface="Roboto"/>
                <a:cs typeface="Roboto"/>
                <a:sym typeface="Roboto"/>
              </a:rPr>
              <a:t>Current Exchange Rate</a:t>
            </a:r>
            <a:r>
              <a:rPr lang="en" sz="1800">
                <a:solidFill>
                  <a:srgbClr val="2E5E73"/>
                </a:solidFill>
                <a:latin typeface="Roboto Light"/>
                <a:ea typeface="Roboto Light"/>
                <a:cs typeface="Roboto Light"/>
                <a:sym typeface="Roboto Light"/>
              </a:rPr>
              <a:t>: ~104</a:t>
            </a:r>
            <a:endParaRPr sz="1800">
              <a:solidFill>
                <a:srgbClr val="2E5E73"/>
              </a:solidFill>
              <a:latin typeface="Roboto Light"/>
              <a:ea typeface="Roboto Light"/>
              <a:cs typeface="Roboto Light"/>
              <a:sym typeface="Roboto Light"/>
            </a:endParaRPr>
          </a:p>
          <a:p>
            <a:pPr indent="0" lvl="0" marL="0" rtl="0" algn="l">
              <a:spcBef>
                <a:spcPts val="0"/>
              </a:spcBef>
              <a:spcAft>
                <a:spcPts val="0"/>
              </a:spcAft>
              <a:buNone/>
            </a:pPr>
            <a:r>
              <a:t/>
            </a:r>
            <a:endParaRPr sz="1800">
              <a:solidFill>
                <a:srgbClr val="2E5E73"/>
              </a:solidFill>
              <a:latin typeface="Roboto Light"/>
              <a:ea typeface="Roboto Light"/>
              <a:cs typeface="Roboto Light"/>
              <a:sym typeface="Roboto Light"/>
            </a:endParaRPr>
          </a:p>
          <a:p>
            <a:pPr indent="0" lvl="0" marL="0" rtl="0" algn="l">
              <a:spcBef>
                <a:spcPts val="0"/>
              </a:spcBef>
              <a:spcAft>
                <a:spcPts val="0"/>
              </a:spcAft>
              <a:buNone/>
            </a:pPr>
            <a:r>
              <a:rPr b="1" lang="en" sz="1800">
                <a:solidFill>
                  <a:schemeClr val="dk1"/>
                </a:solidFill>
                <a:latin typeface="Roboto"/>
                <a:ea typeface="Roboto"/>
                <a:cs typeface="Roboto"/>
                <a:sym typeface="Roboto"/>
              </a:rPr>
              <a:t>Prediction</a:t>
            </a:r>
            <a:r>
              <a:rPr lang="en" sz="1800">
                <a:solidFill>
                  <a:schemeClr val="dk1"/>
                </a:solidFill>
                <a:latin typeface="Roboto Light"/>
                <a:ea typeface="Roboto Light"/>
                <a:cs typeface="Roboto Light"/>
                <a:sym typeface="Roboto Light"/>
              </a:rPr>
              <a:t>: With 80% confidence we can say that the exchange rate will remain between 102 and 109, with the most likely outcome being between 105 and 106</a:t>
            </a:r>
            <a:endParaRPr sz="1800">
              <a:solidFill>
                <a:srgbClr val="2E5E73"/>
              </a:solidFill>
              <a:latin typeface="Roboto Light"/>
              <a:ea typeface="Roboto Light"/>
              <a:cs typeface="Roboto Light"/>
              <a:sym typeface="Roboto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3"/>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4" name="Google Shape;224;p23"/>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2300">
                <a:solidFill>
                  <a:schemeClr val="lt1"/>
                </a:solidFill>
                <a:latin typeface="Roboto Light"/>
                <a:ea typeface="Roboto Light"/>
                <a:cs typeface="Roboto Light"/>
                <a:sym typeface="Roboto Light"/>
              </a:rPr>
              <a:t>Prophet  Seasonalities and Trend</a:t>
            </a:r>
            <a:endParaRPr/>
          </a:p>
        </p:txBody>
      </p:sp>
      <p:pic>
        <p:nvPicPr>
          <p:cNvPr id="225" name="Google Shape;225;p23"/>
          <p:cNvPicPr preferRelativeResize="0"/>
          <p:nvPr/>
        </p:nvPicPr>
        <p:blipFill>
          <a:blip r:embed="rId3">
            <a:alphaModFix/>
          </a:blip>
          <a:stretch>
            <a:fillRect/>
          </a:stretch>
        </p:blipFill>
        <p:spPr>
          <a:xfrm>
            <a:off x="4217425" y="217025"/>
            <a:ext cx="4741250" cy="4709425"/>
          </a:xfrm>
          <a:prstGeom prst="rect">
            <a:avLst/>
          </a:prstGeom>
          <a:solidFill>
            <a:srgbClr val="F2F2F2"/>
          </a:solidFill>
          <a:ln>
            <a:noFill/>
          </a:ln>
        </p:spPr>
      </p:pic>
      <p:sp>
        <p:nvSpPr>
          <p:cNvPr id="226" name="Google Shape;226;p23"/>
          <p:cNvSpPr txBox="1"/>
          <p:nvPr/>
        </p:nvSpPr>
        <p:spPr>
          <a:xfrm>
            <a:off x="281575" y="1208725"/>
            <a:ext cx="3500700" cy="3717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2E5E73"/>
              </a:buClr>
              <a:buSzPts val="1800"/>
              <a:buFont typeface="Roboto Light"/>
              <a:buChar char="●"/>
            </a:pPr>
            <a:r>
              <a:rPr lang="en" sz="1800">
                <a:solidFill>
                  <a:srgbClr val="2E5E73"/>
                </a:solidFill>
                <a:latin typeface="Roboto Light"/>
                <a:ea typeface="Roboto Light"/>
                <a:cs typeface="Roboto Light"/>
                <a:sym typeface="Roboto Light"/>
              </a:rPr>
              <a:t>Predicting a steady increase in exchange rate, but with large potential variability</a:t>
            </a:r>
            <a:endParaRPr sz="1800">
              <a:solidFill>
                <a:srgbClr val="2E5E73"/>
              </a:solidFill>
              <a:latin typeface="Roboto Light"/>
              <a:ea typeface="Roboto Light"/>
              <a:cs typeface="Roboto Light"/>
              <a:sym typeface="Roboto Light"/>
            </a:endParaRPr>
          </a:p>
          <a:p>
            <a:pPr indent="0" lvl="0" marL="0" rtl="0" algn="l">
              <a:spcBef>
                <a:spcPts val="0"/>
              </a:spcBef>
              <a:spcAft>
                <a:spcPts val="0"/>
              </a:spcAft>
              <a:buNone/>
            </a:pPr>
            <a:r>
              <a:t/>
            </a:r>
            <a:endParaRPr sz="1800">
              <a:solidFill>
                <a:srgbClr val="2E5E73"/>
              </a:solidFill>
              <a:latin typeface="Roboto Light"/>
              <a:ea typeface="Roboto Light"/>
              <a:cs typeface="Roboto Light"/>
              <a:sym typeface="Roboto Light"/>
            </a:endParaRPr>
          </a:p>
          <a:p>
            <a:pPr indent="-342900" lvl="0" marL="457200" rtl="0" algn="l">
              <a:spcBef>
                <a:spcPts val="0"/>
              </a:spcBef>
              <a:spcAft>
                <a:spcPts val="0"/>
              </a:spcAft>
              <a:buClr>
                <a:srgbClr val="2E5E73"/>
              </a:buClr>
              <a:buSzPts val="1800"/>
              <a:buFont typeface="Roboto Light"/>
              <a:buChar char="●"/>
            </a:pPr>
            <a:r>
              <a:rPr lang="en" sz="1800">
                <a:solidFill>
                  <a:srgbClr val="2E5E73"/>
                </a:solidFill>
                <a:latin typeface="Roboto Light"/>
                <a:ea typeface="Roboto Light"/>
                <a:cs typeface="Roboto Light"/>
                <a:sym typeface="Roboto Light"/>
              </a:rPr>
              <a:t>Unable to glean weekly seasonality due to dataset</a:t>
            </a:r>
            <a:endParaRPr sz="1800">
              <a:solidFill>
                <a:srgbClr val="2E5E73"/>
              </a:solidFill>
              <a:latin typeface="Roboto Light"/>
              <a:ea typeface="Roboto Light"/>
              <a:cs typeface="Roboto Light"/>
              <a:sym typeface="Roboto Light"/>
            </a:endParaRPr>
          </a:p>
          <a:p>
            <a:pPr indent="0" lvl="0" marL="0" rtl="0" algn="l">
              <a:spcBef>
                <a:spcPts val="0"/>
              </a:spcBef>
              <a:spcAft>
                <a:spcPts val="0"/>
              </a:spcAft>
              <a:buNone/>
            </a:pPr>
            <a:r>
              <a:t/>
            </a:r>
            <a:endParaRPr sz="1800">
              <a:solidFill>
                <a:srgbClr val="2E5E73"/>
              </a:solidFill>
              <a:latin typeface="Roboto Light"/>
              <a:ea typeface="Roboto Light"/>
              <a:cs typeface="Roboto Light"/>
              <a:sym typeface="Roboto Light"/>
            </a:endParaRPr>
          </a:p>
          <a:p>
            <a:pPr indent="-342900" lvl="0" marL="457200" rtl="0" algn="l">
              <a:spcBef>
                <a:spcPts val="0"/>
              </a:spcBef>
              <a:spcAft>
                <a:spcPts val="0"/>
              </a:spcAft>
              <a:buClr>
                <a:srgbClr val="2E5E73"/>
              </a:buClr>
              <a:buSzPts val="1800"/>
              <a:buFont typeface="Roboto Light"/>
              <a:buChar char="●"/>
            </a:pPr>
            <a:r>
              <a:rPr lang="en" sz="1800">
                <a:solidFill>
                  <a:srgbClr val="2E5E73"/>
                </a:solidFill>
                <a:latin typeface="Roboto Light"/>
                <a:ea typeface="Roboto Light"/>
                <a:cs typeface="Roboto Light"/>
                <a:sym typeface="Roboto Light"/>
              </a:rPr>
              <a:t>Minimal yearly seasonality</a:t>
            </a:r>
            <a:endParaRPr sz="1800">
              <a:solidFill>
                <a:srgbClr val="2E5E73"/>
              </a:solidFill>
              <a:latin typeface="Roboto Light"/>
              <a:ea typeface="Roboto Light"/>
              <a:cs typeface="Roboto Light"/>
              <a:sym typeface="Roboto Light"/>
            </a:endParaRPr>
          </a:p>
        </p:txBody>
      </p:sp>
      <p:pic>
        <p:nvPicPr>
          <p:cNvPr id="227" name="Google Shape;227;p23"/>
          <p:cNvPicPr preferRelativeResize="0"/>
          <p:nvPr/>
        </p:nvPicPr>
        <p:blipFill>
          <a:blip r:embed="rId4">
            <a:alphaModFix/>
          </a:blip>
          <a:stretch>
            <a:fillRect/>
          </a:stretch>
        </p:blipFill>
        <p:spPr>
          <a:xfrm>
            <a:off x="6298025" y="1653815"/>
            <a:ext cx="1247775" cy="114475"/>
          </a:xfrm>
          <a:prstGeom prst="rect">
            <a:avLst/>
          </a:prstGeom>
          <a:solidFill>
            <a:srgbClr val="F2F2F2"/>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4"/>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4" name="Google Shape;234;p24"/>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2300">
                <a:solidFill>
                  <a:schemeClr val="lt1"/>
                </a:solidFill>
                <a:latin typeface="Roboto Light"/>
                <a:ea typeface="Roboto Light"/>
                <a:cs typeface="Roboto Light"/>
                <a:sym typeface="Roboto Light"/>
              </a:rPr>
              <a:t>October to December Analysis</a:t>
            </a:r>
            <a:endParaRPr/>
          </a:p>
        </p:txBody>
      </p:sp>
      <p:pic>
        <p:nvPicPr>
          <p:cNvPr id="235" name="Google Shape;235;p24"/>
          <p:cNvPicPr preferRelativeResize="0"/>
          <p:nvPr/>
        </p:nvPicPr>
        <p:blipFill>
          <a:blip r:embed="rId3">
            <a:alphaModFix/>
          </a:blip>
          <a:stretch>
            <a:fillRect/>
          </a:stretch>
        </p:blipFill>
        <p:spPr>
          <a:xfrm>
            <a:off x="4488775" y="1594100"/>
            <a:ext cx="4417449" cy="2924450"/>
          </a:xfrm>
          <a:prstGeom prst="rect">
            <a:avLst/>
          </a:prstGeom>
          <a:noFill/>
          <a:ln>
            <a:noFill/>
          </a:ln>
        </p:spPr>
      </p:pic>
      <p:pic>
        <p:nvPicPr>
          <p:cNvPr id="236" name="Google Shape;236;p24"/>
          <p:cNvPicPr preferRelativeResize="0"/>
          <p:nvPr/>
        </p:nvPicPr>
        <p:blipFill>
          <a:blip r:embed="rId4">
            <a:alphaModFix/>
          </a:blip>
          <a:stretch>
            <a:fillRect/>
          </a:stretch>
        </p:blipFill>
        <p:spPr>
          <a:xfrm>
            <a:off x="132825" y="1654213"/>
            <a:ext cx="4183974" cy="280423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5"/>
          <p:cNvSpPr/>
          <p:nvPr/>
        </p:nvSpPr>
        <p:spPr>
          <a:xfrm>
            <a:off x="319499" y="334350"/>
            <a:ext cx="3585000" cy="677100"/>
          </a:xfrm>
          <a:prstGeom prst="rect">
            <a:avLst/>
          </a:prstGeom>
          <a:solidFill>
            <a:srgbClr val="082D49"/>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3" name="Google Shape;243;p25"/>
          <p:cNvSpPr txBox="1"/>
          <p:nvPr/>
        </p:nvSpPr>
        <p:spPr>
          <a:xfrm>
            <a:off x="521528" y="597645"/>
            <a:ext cx="3126300" cy="152100"/>
          </a:xfrm>
          <a:prstGeom prst="rect">
            <a:avLst/>
          </a:prstGeom>
          <a:noFill/>
          <a:ln>
            <a:noFill/>
          </a:ln>
        </p:spPr>
        <p:txBody>
          <a:bodyPr anchorCtr="0" anchor="ctr" bIns="68575" lIns="68575" spcFirstLastPara="1" rIns="68575" wrap="square" tIns="68575">
            <a:noAutofit/>
          </a:bodyPr>
          <a:lstStyle/>
          <a:p>
            <a:pPr indent="0" lvl="0" marL="0" rtl="0" algn="l">
              <a:spcBef>
                <a:spcPts val="0"/>
              </a:spcBef>
              <a:spcAft>
                <a:spcPts val="0"/>
              </a:spcAft>
              <a:buNone/>
            </a:pPr>
            <a:r>
              <a:rPr lang="en" sz="2300">
                <a:solidFill>
                  <a:schemeClr val="lt1"/>
                </a:solidFill>
                <a:latin typeface="Roboto Light"/>
                <a:ea typeface="Roboto Light"/>
                <a:cs typeface="Roboto Light"/>
                <a:sym typeface="Roboto Light"/>
              </a:rPr>
              <a:t>October to December Analysis</a:t>
            </a:r>
            <a:endParaRPr/>
          </a:p>
        </p:txBody>
      </p:sp>
      <p:pic>
        <p:nvPicPr>
          <p:cNvPr id="244" name="Google Shape;244;p25"/>
          <p:cNvPicPr preferRelativeResize="0"/>
          <p:nvPr/>
        </p:nvPicPr>
        <p:blipFill>
          <a:blip r:embed="rId3">
            <a:alphaModFix/>
          </a:blip>
          <a:stretch>
            <a:fillRect/>
          </a:stretch>
        </p:blipFill>
        <p:spPr>
          <a:xfrm>
            <a:off x="104250" y="1728825"/>
            <a:ext cx="4130025" cy="2948525"/>
          </a:xfrm>
          <a:prstGeom prst="rect">
            <a:avLst/>
          </a:prstGeom>
          <a:noFill/>
          <a:ln>
            <a:noFill/>
          </a:ln>
        </p:spPr>
      </p:pic>
      <p:pic>
        <p:nvPicPr>
          <p:cNvPr id="245" name="Google Shape;245;p25"/>
          <p:cNvPicPr preferRelativeResize="0"/>
          <p:nvPr/>
        </p:nvPicPr>
        <p:blipFill>
          <a:blip r:embed="rId4">
            <a:alphaModFix/>
          </a:blip>
          <a:stretch>
            <a:fillRect/>
          </a:stretch>
        </p:blipFill>
        <p:spPr>
          <a:xfrm>
            <a:off x="5312749" y="597650"/>
            <a:ext cx="2764450" cy="2270983"/>
          </a:xfrm>
          <a:prstGeom prst="rect">
            <a:avLst/>
          </a:prstGeom>
          <a:noFill/>
          <a:ln>
            <a:noFill/>
          </a:ln>
        </p:spPr>
      </p:pic>
      <p:pic>
        <p:nvPicPr>
          <p:cNvPr id="246" name="Google Shape;246;p25"/>
          <p:cNvPicPr preferRelativeResize="0"/>
          <p:nvPr/>
        </p:nvPicPr>
        <p:blipFill>
          <a:blip r:embed="rId5">
            <a:alphaModFix/>
          </a:blip>
          <a:stretch>
            <a:fillRect/>
          </a:stretch>
        </p:blipFill>
        <p:spPr>
          <a:xfrm>
            <a:off x="5312750" y="3047825"/>
            <a:ext cx="2764450" cy="2086725"/>
          </a:xfrm>
          <a:prstGeom prst="rect">
            <a:avLst/>
          </a:prstGeom>
          <a:noFill/>
          <a:ln>
            <a:noFill/>
          </a:ln>
        </p:spPr>
      </p:pic>
      <p:sp>
        <p:nvSpPr>
          <p:cNvPr id="247" name="Google Shape;247;p25"/>
          <p:cNvSpPr txBox="1"/>
          <p:nvPr/>
        </p:nvSpPr>
        <p:spPr>
          <a:xfrm>
            <a:off x="930300" y="1365175"/>
            <a:ext cx="3585000" cy="6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E5E73"/>
                </a:solidFill>
                <a:latin typeface="Roboto Light"/>
                <a:ea typeface="Roboto Light"/>
                <a:cs typeface="Roboto Light"/>
                <a:sym typeface="Roboto Light"/>
              </a:rPr>
              <a:t>Average Exchange Rate</a:t>
            </a:r>
            <a:endParaRPr sz="1800">
              <a:solidFill>
                <a:srgbClr val="2E5E73"/>
              </a:solidFill>
              <a:latin typeface="Roboto Light"/>
              <a:ea typeface="Roboto Light"/>
              <a:cs typeface="Roboto Light"/>
              <a:sym typeface="Roboto Light"/>
            </a:endParaRPr>
          </a:p>
        </p:txBody>
      </p:sp>
      <p:sp>
        <p:nvSpPr>
          <p:cNvPr id="248" name="Google Shape;248;p25"/>
          <p:cNvSpPr txBox="1"/>
          <p:nvPr/>
        </p:nvSpPr>
        <p:spPr>
          <a:xfrm>
            <a:off x="5424925" y="0"/>
            <a:ext cx="3585000" cy="67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2E5E73"/>
                </a:solidFill>
                <a:latin typeface="Roboto Light"/>
                <a:ea typeface="Roboto Light"/>
                <a:cs typeface="Roboto Light"/>
                <a:sym typeface="Roboto Light"/>
              </a:rPr>
              <a:t>Exchange Rate Variability</a:t>
            </a:r>
            <a:endParaRPr sz="1800">
              <a:solidFill>
                <a:srgbClr val="2E5E73"/>
              </a:solidFill>
              <a:latin typeface="Roboto Light"/>
              <a:ea typeface="Roboto Light"/>
              <a:cs typeface="Roboto Light"/>
              <a:sym typeface="Robot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6"/>
          <p:cNvSpPr/>
          <p:nvPr/>
        </p:nvSpPr>
        <p:spPr>
          <a:xfrm>
            <a:off x="2504775" y="809850"/>
            <a:ext cx="6322275" cy="4018950"/>
          </a:xfrm>
          <a:prstGeom prst="rect">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5" name="Google Shape;255;p26"/>
          <p:cNvSpPr/>
          <p:nvPr/>
        </p:nvSpPr>
        <p:spPr>
          <a:xfrm>
            <a:off x="319501" y="334350"/>
            <a:ext cx="2071350" cy="2071350"/>
          </a:xfrm>
          <a:prstGeom prst="rect">
            <a:avLst/>
          </a:prstGeom>
          <a:solidFill>
            <a:srgbClr val="AADCF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6" name="Google Shape;256;p26"/>
          <p:cNvSpPr txBox="1"/>
          <p:nvPr/>
        </p:nvSpPr>
        <p:spPr>
          <a:xfrm>
            <a:off x="436238" y="1140000"/>
            <a:ext cx="2135475" cy="465750"/>
          </a:xfrm>
          <a:prstGeom prst="rect">
            <a:avLst/>
          </a:pr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2100"/>
              <a:buFont typeface="Arial"/>
              <a:buNone/>
            </a:pPr>
            <a:r>
              <a:rPr b="0" i="0" lang="en" sz="2100" u="none" cap="none" strike="noStrike">
                <a:solidFill>
                  <a:srgbClr val="082D49"/>
                </a:solidFill>
                <a:latin typeface="Roboto Light"/>
                <a:ea typeface="Roboto Light"/>
                <a:cs typeface="Roboto Light"/>
                <a:sym typeface="Roboto Light"/>
              </a:rPr>
              <a:t>Future Considerations</a:t>
            </a:r>
            <a:endParaRPr b="0" i="0" sz="2100" u="none" cap="none" strike="noStrike">
              <a:solidFill>
                <a:srgbClr val="082D49"/>
              </a:solidFill>
              <a:latin typeface="Roboto Light"/>
              <a:ea typeface="Roboto Light"/>
              <a:cs typeface="Roboto Light"/>
              <a:sym typeface="Roboto Light"/>
            </a:endParaRPr>
          </a:p>
        </p:txBody>
      </p:sp>
      <p:sp>
        <p:nvSpPr>
          <p:cNvPr id="257" name="Google Shape;257;p26"/>
          <p:cNvSpPr txBox="1"/>
          <p:nvPr/>
        </p:nvSpPr>
        <p:spPr>
          <a:xfrm>
            <a:off x="2504775" y="334350"/>
            <a:ext cx="6389100" cy="387900"/>
          </a:xfrm>
          <a:prstGeom prst="rect">
            <a:avLst/>
          </a:prstGeom>
          <a:noFill/>
          <a:ln>
            <a:noFill/>
          </a:ln>
        </p:spPr>
        <p:txBody>
          <a:bodyPr anchorCtr="0" anchor="t" bIns="68575" lIns="68575" spcFirstLastPara="1" rIns="68575" wrap="square" tIns="68575">
            <a:spAutoFit/>
          </a:bodyPr>
          <a:lstStyle/>
          <a:p>
            <a:pPr indent="0" lvl="0" marL="0" marR="0" rtl="0" algn="l">
              <a:lnSpc>
                <a:spcPct val="90000"/>
              </a:lnSpc>
              <a:spcBef>
                <a:spcPts val="0"/>
              </a:spcBef>
              <a:spcAft>
                <a:spcPts val="0"/>
              </a:spcAft>
              <a:buClr>
                <a:srgbClr val="000000"/>
              </a:buClr>
              <a:buSzPts val="1800"/>
              <a:buFont typeface="Arial"/>
              <a:buNone/>
            </a:pPr>
            <a:r>
              <a:t/>
            </a:r>
            <a:endParaRPr b="1" i="0" sz="1800" u="none" cap="none" strike="noStrike">
              <a:solidFill>
                <a:srgbClr val="082D49"/>
              </a:solidFill>
              <a:latin typeface="Roboto"/>
              <a:ea typeface="Roboto"/>
              <a:cs typeface="Roboto"/>
              <a:sym typeface="Roboto"/>
            </a:endParaRPr>
          </a:p>
        </p:txBody>
      </p:sp>
      <p:sp>
        <p:nvSpPr>
          <p:cNvPr id="258" name="Google Shape;258;p26"/>
          <p:cNvSpPr txBox="1"/>
          <p:nvPr/>
        </p:nvSpPr>
        <p:spPr>
          <a:xfrm>
            <a:off x="2504775" y="856050"/>
            <a:ext cx="6389100" cy="3092700"/>
          </a:xfrm>
          <a:prstGeom prst="rect">
            <a:avLst/>
          </a:prstGeom>
          <a:noFill/>
          <a:ln>
            <a:noFill/>
          </a:ln>
        </p:spPr>
        <p:txBody>
          <a:bodyPr anchorCtr="0" anchor="t" bIns="68575" lIns="68575" spcFirstLastPara="1" rIns="68575" wrap="square" tIns="68575">
            <a:spAutoFit/>
          </a:bodyPr>
          <a:lstStyle/>
          <a:p>
            <a:pPr indent="-317500" lvl="0" marL="457200" marR="0" rtl="0" algn="l">
              <a:lnSpc>
                <a:spcPct val="90000"/>
              </a:lnSpc>
              <a:spcBef>
                <a:spcPts val="800"/>
              </a:spcBef>
              <a:spcAft>
                <a:spcPts val="0"/>
              </a:spcAft>
              <a:buClr>
                <a:srgbClr val="082D49"/>
              </a:buClr>
              <a:buSzPts val="1400"/>
              <a:buFont typeface="Roboto"/>
              <a:buChar char="●"/>
            </a:pPr>
            <a:r>
              <a:rPr lang="en">
                <a:solidFill>
                  <a:srgbClr val="082D49"/>
                </a:solidFill>
                <a:latin typeface="Roboto"/>
                <a:ea typeface="Roboto"/>
                <a:cs typeface="Roboto"/>
                <a:sym typeface="Roboto"/>
              </a:rPr>
              <a:t>Transitions of power</a:t>
            </a:r>
            <a:endParaRPr>
              <a:solidFill>
                <a:srgbClr val="082D49"/>
              </a:solidFill>
              <a:latin typeface="Roboto"/>
              <a:ea typeface="Roboto"/>
              <a:cs typeface="Roboto"/>
              <a:sym typeface="Roboto"/>
            </a:endParaRPr>
          </a:p>
          <a:p>
            <a:pPr indent="0" lvl="0" marL="0" marR="0" rtl="0" algn="l">
              <a:lnSpc>
                <a:spcPct val="90000"/>
              </a:lnSpc>
              <a:spcBef>
                <a:spcPts val="800"/>
              </a:spcBef>
              <a:spcAft>
                <a:spcPts val="0"/>
              </a:spcAft>
              <a:buNone/>
            </a:pPr>
            <a:r>
              <a:t/>
            </a:r>
            <a:endParaRPr>
              <a:solidFill>
                <a:srgbClr val="082D49"/>
              </a:solidFill>
              <a:latin typeface="Roboto"/>
              <a:ea typeface="Roboto"/>
              <a:cs typeface="Roboto"/>
              <a:sym typeface="Roboto"/>
            </a:endParaRPr>
          </a:p>
          <a:p>
            <a:pPr indent="-317500" lvl="0" marL="457200" marR="0" rtl="0" algn="l">
              <a:lnSpc>
                <a:spcPct val="90000"/>
              </a:lnSpc>
              <a:spcBef>
                <a:spcPts val="800"/>
              </a:spcBef>
              <a:spcAft>
                <a:spcPts val="0"/>
              </a:spcAft>
              <a:buClr>
                <a:srgbClr val="082D49"/>
              </a:buClr>
              <a:buSzPts val="1400"/>
              <a:buFont typeface="Roboto"/>
              <a:buChar char="●"/>
            </a:pPr>
            <a:r>
              <a:rPr lang="en">
                <a:solidFill>
                  <a:srgbClr val="082D49"/>
                </a:solidFill>
                <a:latin typeface="Roboto"/>
                <a:ea typeface="Roboto"/>
                <a:cs typeface="Roboto"/>
                <a:sym typeface="Roboto"/>
              </a:rPr>
              <a:t>Which Party has the White House, House of </a:t>
            </a:r>
            <a:r>
              <a:rPr lang="en">
                <a:solidFill>
                  <a:srgbClr val="082D49"/>
                </a:solidFill>
                <a:latin typeface="Roboto"/>
                <a:ea typeface="Roboto"/>
                <a:cs typeface="Roboto"/>
                <a:sym typeface="Roboto"/>
              </a:rPr>
              <a:t>Representatives</a:t>
            </a:r>
            <a:r>
              <a:rPr lang="en">
                <a:solidFill>
                  <a:srgbClr val="082D49"/>
                </a:solidFill>
                <a:latin typeface="Roboto"/>
                <a:ea typeface="Roboto"/>
                <a:cs typeface="Roboto"/>
                <a:sym typeface="Roboto"/>
              </a:rPr>
              <a:t> and Senate?</a:t>
            </a:r>
            <a:endParaRPr>
              <a:solidFill>
                <a:srgbClr val="082D49"/>
              </a:solidFill>
              <a:latin typeface="Roboto"/>
              <a:ea typeface="Roboto"/>
              <a:cs typeface="Roboto"/>
              <a:sym typeface="Roboto"/>
            </a:endParaRPr>
          </a:p>
          <a:p>
            <a:pPr indent="0" lvl="0" marL="0" marR="0" rtl="0" algn="l">
              <a:lnSpc>
                <a:spcPct val="90000"/>
              </a:lnSpc>
              <a:spcBef>
                <a:spcPts val="800"/>
              </a:spcBef>
              <a:spcAft>
                <a:spcPts val="0"/>
              </a:spcAft>
              <a:buNone/>
            </a:pPr>
            <a:r>
              <a:t/>
            </a:r>
            <a:endParaRPr>
              <a:solidFill>
                <a:srgbClr val="082D49"/>
              </a:solidFill>
              <a:latin typeface="Roboto"/>
              <a:ea typeface="Roboto"/>
              <a:cs typeface="Roboto"/>
              <a:sym typeface="Roboto"/>
            </a:endParaRPr>
          </a:p>
          <a:p>
            <a:pPr indent="-317500" lvl="0" marL="457200" marR="0" rtl="0" algn="l">
              <a:lnSpc>
                <a:spcPct val="90000"/>
              </a:lnSpc>
              <a:spcBef>
                <a:spcPts val="800"/>
              </a:spcBef>
              <a:spcAft>
                <a:spcPts val="0"/>
              </a:spcAft>
              <a:buClr>
                <a:srgbClr val="082D49"/>
              </a:buClr>
              <a:buSzPts val="1400"/>
              <a:buFont typeface="Roboto"/>
              <a:buChar char="●"/>
            </a:pPr>
            <a:r>
              <a:rPr lang="en">
                <a:solidFill>
                  <a:srgbClr val="082D49"/>
                </a:solidFill>
                <a:latin typeface="Roboto"/>
                <a:ea typeface="Roboto"/>
                <a:cs typeface="Roboto"/>
                <a:sym typeface="Roboto"/>
              </a:rPr>
              <a:t>Should we bring in consideration of midterm elections?</a:t>
            </a:r>
            <a:endParaRPr>
              <a:solidFill>
                <a:srgbClr val="082D49"/>
              </a:solidFill>
              <a:latin typeface="Roboto"/>
              <a:ea typeface="Roboto"/>
              <a:cs typeface="Roboto"/>
              <a:sym typeface="Roboto"/>
            </a:endParaRPr>
          </a:p>
          <a:p>
            <a:pPr indent="0" lvl="0" marL="0" marR="0" rtl="0" algn="l">
              <a:lnSpc>
                <a:spcPct val="90000"/>
              </a:lnSpc>
              <a:spcBef>
                <a:spcPts val="800"/>
              </a:spcBef>
              <a:spcAft>
                <a:spcPts val="0"/>
              </a:spcAft>
              <a:buNone/>
            </a:pPr>
            <a:r>
              <a:t/>
            </a:r>
            <a:endParaRPr>
              <a:solidFill>
                <a:srgbClr val="082D49"/>
              </a:solidFill>
              <a:latin typeface="Roboto"/>
              <a:ea typeface="Roboto"/>
              <a:cs typeface="Roboto"/>
              <a:sym typeface="Roboto"/>
            </a:endParaRPr>
          </a:p>
          <a:p>
            <a:pPr indent="-317500" lvl="0" marL="457200" marR="0" rtl="0" algn="l">
              <a:lnSpc>
                <a:spcPct val="90000"/>
              </a:lnSpc>
              <a:spcBef>
                <a:spcPts val="800"/>
              </a:spcBef>
              <a:spcAft>
                <a:spcPts val="0"/>
              </a:spcAft>
              <a:buClr>
                <a:srgbClr val="082D49"/>
              </a:buClr>
              <a:buSzPts val="1400"/>
              <a:buFont typeface="Roboto"/>
              <a:buChar char="●"/>
            </a:pPr>
            <a:r>
              <a:rPr lang="en">
                <a:solidFill>
                  <a:srgbClr val="082D49"/>
                </a:solidFill>
                <a:latin typeface="Roboto"/>
                <a:ea typeface="Roboto"/>
                <a:cs typeface="Roboto"/>
                <a:sym typeface="Roboto"/>
              </a:rPr>
              <a:t>Economic Indicators: Integration of vital economic data such as interest rates, inflation rates, and GDP growth to enhance prediction reliability</a:t>
            </a:r>
            <a:endParaRPr>
              <a:solidFill>
                <a:srgbClr val="082D49"/>
              </a:solidFill>
              <a:latin typeface="Roboto"/>
              <a:ea typeface="Roboto"/>
              <a:cs typeface="Roboto"/>
              <a:sym typeface="Roboto"/>
            </a:endParaRPr>
          </a:p>
          <a:p>
            <a:pPr indent="0" lvl="0" marL="0" marR="0" rtl="0" algn="l">
              <a:lnSpc>
                <a:spcPct val="90000"/>
              </a:lnSpc>
              <a:spcBef>
                <a:spcPts val="800"/>
              </a:spcBef>
              <a:spcAft>
                <a:spcPts val="0"/>
              </a:spcAft>
              <a:buNone/>
            </a:pPr>
            <a:r>
              <a:t/>
            </a:r>
            <a:endParaRPr>
              <a:solidFill>
                <a:srgbClr val="082D49"/>
              </a:solidFill>
              <a:latin typeface="Roboto"/>
              <a:ea typeface="Roboto"/>
              <a:cs typeface="Roboto"/>
              <a:sym typeface="Roboto"/>
            </a:endParaRPr>
          </a:p>
          <a:p>
            <a:pPr indent="-317500" lvl="0" marL="457200" marR="0" rtl="0" algn="l">
              <a:lnSpc>
                <a:spcPct val="90000"/>
              </a:lnSpc>
              <a:spcBef>
                <a:spcPts val="800"/>
              </a:spcBef>
              <a:spcAft>
                <a:spcPts val="0"/>
              </a:spcAft>
              <a:buClr>
                <a:srgbClr val="082D49"/>
              </a:buClr>
              <a:buSzPts val="1400"/>
              <a:buFont typeface="Roboto"/>
              <a:buChar char="●"/>
            </a:pPr>
            <a:r>
              <a:rPr lang="en">
                <a:solidFill>
                  <a:srgbClr val="082D49"/>
                </a:solidFill>
                <a:latin typeface="Roboto"/>
                <a:ea typeface="Roboto"/>
                <a:cs typeface="Roboto"/>
                <a:sym typeface="Roboto"/>
              </a:rPr>
              <a:t>Geopolitical Insights: Consideration of global political events that impact currency values, ensuring a holistic approach to FX prediction</a:t>
            </a:r>
            <a:endParaRPr>
              <a:solidFill>
                <a:srgbClr val="082D49"/>
              </a:solidFill>
              <a:latin typeface="Roboto"/>
              <a:ea typeface="Roboto"/>
              <a:cs typeface="Roboto"/>
              <a:sym typeface="Roboto"/>
            </a:endParaRPr>
          </a:p>
        </p:txBody>
      </p:sp>
      <p:pic>
        <p:nvPicPr>
          <p:cNvPr id="259" name="Google Shape;259;p26"/>
          <p:cNvPicPr preferRelativeResize="0"/>
          <p:nvPr/>
        </p:nvPicPr>
        <p:blipFill rotWithShape="1">
          <a:blip r:embed="rId3">
            <a:alphaModFix/>
          </a:blip>
          <a:srcRect b="0" l="0" r="0" t="0"/>
          <a:stretch/>
        </p:blipFill>
        <p:spPr>
          <a:xfrm>
            <a:off x="1122188" y="1801809"/>
            <a:ext cx="465976" cy="465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